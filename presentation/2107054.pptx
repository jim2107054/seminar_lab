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</p:sldIdLst>
  <p:sldSz cx="18288000" cy="10287000"/>
  <p:notesSz cx="6858000" cy="9144000"/>
  <p:embeddedFontLst>
    <p:embeddedFont>
      <p:font typeface="Cambria Math" panose="02040503050406030204" pitchFamily="18" charset="0"/>
      <p:regular r:id="rId22"/>
    </p:embeddedFont>
    <p:embeddedFont>
      <p:font typeface="Scripter" panose="020B0604020202020204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2.03320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pdf/2601.07107" TargetMode="External"/><Relationship Id="rId4" Type="http://schemas.openxmlformats.org/officeDocument/2006/relationships/hyperlink" Target="https://arxiv.org/pdf/2601.03054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658" y="1890501"/>
            <a:ext cx="14238503" cy="137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Agentic Reinforcement Learning for Medical Vision: A New Frontier in Interactive Image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55931" y="3976149"/>
            <a:ext cx="4176138" cy="5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131" b="1" spc="44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48000" y="3187489"/>
            <a:ext cx="11787554" cy="3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Synthesizing Multi-step Reasoning, Tool Orchestration, and Iterative Refinement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55798" y="4641230"/>
            <a:ext cx="8483974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Name: MD Jahid Hasan Jim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5798" y="5089932"/>
            <a:ext cx="848397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  : 2107054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55798" y="5469397"/>
            <a:ext cx="1319199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Computer science and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63574" y="9728626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488" y="9728626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5798" y="5835422"/>
            <a:ext cx="1319199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 : Khulna University of Engineering &amp; Technology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55798" y="6214887"/>
            <a:ext cx="1319199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: 20/04/2026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88402" y="9738786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14425"/>
            <a:ext cx="5303978" cy="6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1"/>
              </a:lnSpc>
            </a:pPr>
            <a:r>
              <a:rPr lang="en-US" sz="4799" b="1" spc="-225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26602" y="1826849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57436" y="1822086"/>
            <a:ext cx="5466983" cy="6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&amp; Problem Statement</a:t>
            </a:r>
          </a:p>
          <a:p>
            <a:pPr algn="l">
              <a:lnSpc>
                <a:spcPts val="2444"/>
              </a:lnSpc>
            </a:pPr>
            <a:endParaRPr lang="en-US" sz="2600" b="1" spc="-122" dirty="0">
              <a:solidFill>
                <a:srgbClr val="424242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69440" y="9761255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6355" y="9761255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26602" y="2499949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7436" y="2495187"/>
            <a:ext cx="5466983" cy="6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 &amp; Related Work</a:t>
            </a:r>
          </a:p>
          <a:p>
            <a:pPr algn="l">
              <a:lnSpc>
                <a:spcPts val="2444"/>
              </a:lnSpc>
            </a:pPr>
            <a:endParaRPr lang="en-US" sz="2600" b="1" spc="-122" dirty="0">
              <a:solidFill>
                <a:srgbClr val="424242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26602" y="3163427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7436" y="3163427"/>
            <a:ext cx="5466983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26602" y="3836527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7436" y="3836527"/>
            <a:ext cx="5466983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 err="1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MedVistaGym</a:t>
            </a: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&amp; MedVista-R1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26602" y="4500103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57436" y="4500103"/>
            <a:ext cx="5466983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 err="1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MedSAM</a:t>
            </a: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-Agent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26602" y="5216969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436" y="5216969"/>
            <a:ext cx="5466983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Comparative Analysis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6602" y="5937695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57436" y="5937695"/>
            <a:ext cx="5735203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Open Challenges &amp; Future Directions 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26602" y="6601270"/>
            <a:ext cx="930834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57436" y="6601270"/>
            <a:ext cx="5466983" cy="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2600" b="1" spc="-122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76700" y="9771415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9002" y="1867985"/>
            <a:ext cx="6678844" cy="695824"/>
            <a:chOff x="0" y="0"/>
            <a:chExt cx="3888027" cy="4050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88027" cy="405068"/>
            </a:xfrm>
            <a:custGeom>
              <a:avLst/>
              <a:gdLst/>
              <a:ahLst/>
              <a:cxnLst/>
              <a:rect l="l" t="t" r="r" b="b"/>
              <a:pathLst>
                <a:path w="3888027" h="405068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45950"/>
                  </a:lnTo>
                  <a:cubicBezTo>
                    <a:pt x="3888027" y="378600"/>
                    <a:pt x="3861559" y="405068"/>
                    <a:pt x="3828909" y="405068"/>
                  </a:cubicBezTo>
                  <a:lnTo>
                    <a:pt x="59118" y="405068"/>
                  </a:lnTo>
                  <a:cubicBezTo>
                    <a:pt x="43439" y="405068"/>
                    <a:pt x="28402" y="398839"/>
                    <a:pt x="17315" y="387752"/>
                  </a:cubicBezTo>
                  <a:cubicBezTo>
                    <a:pt x="6228" y="376666"/>
                    <a:pt x="0" y="361629"/>
                    <a:pt x="0" y="345950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888027" cy="471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9002" y="1786303"/>
            <a:ext cx="6678844" cy="716104"/>
            <a:chOff x="0" y="0"/>
            <a:chExt cx="3888027" cy="4168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88027" cy="416873"/>
            </a:xfrm>
            <a:custGeom>
              <a:avLst/>
              <a:gdLst/>
              <a:ahLst/>
              <a:cxnLst/>
              <a:rect l="l" t="t" r="r" b="b"/>
              <a:pathLst>
                <a:path w="3888027" h="416873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57756"/>
                  </a:lnTo>
                  <a:cubicBezTo>
                    <a:pt x="3888027" y="390405"/>
                    <a:pt x="3861559" y="416873"/>
                    <a:pt x="3828909" y="416873"/>
                  </a:cubicBezTo>
                  <a:lnTo>
                    <a:pt x="59118" y="416873"/>
                  </a:lnTo>
                  <a:cubicBezTo>
                    <a:pt x="43439" y="416873"/>
                    <a:pt x="28402" y="410645"/>
                    <a:pt x="17315" y="399558"/>
                  </a:cubicBezTo>
                  <a:cubicBezTo>
                    <a:pt x="6228" y="388471"/>
                    <a:pt x="0" y="373435"/>
                    <a:pt x="0" y="357756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C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888027" cy="483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77968" y="2640009"/>
            <a:ext cx="9149786" cy="53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52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works well within its training set, but falls apart on data from a different hospital or an unfamiliar pathology. 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16852" y="1936852"/>
            <a:ext cx="400892" cy="437535"/>
          </a:xfrm>
          <a:custGeom>
            <a:avLst/>
            <a:gdLst/>
            <a:ahLst/>
            <a:cxnLst/>
            <a:rect l="l" t="t" r="r" b="b"/>
            <a:pathLst>
              <a:path w="400892" h="437535">
                <a:moveTo>
                  <a:pt x="0" y="0"/>
                </a:moveTo>
                <a:lnTo>
                  <a:pt x="400892" y="0"/>
                </a:lnTo>
                <a:lnTo>
                  <a:pt x="400892" y="437535"/>
                </a:lnTo>
                <a:lnTo>
                  <a:pt x="0" y="43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69002" y="3785318"/>
            <a:ext cx="6678844" cy="695824"/>
            <a:chOff x="0" y="0"/>
            <a:chExt cx="3888027" cy="4050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88027" cy="405068"/>
            </a:xfrm>
            <a:custGeom>
              <a:avLst/>
              <a:gdLst/>
              <a:ahLst/>
              <a:cxnLst/>
              <a:rect l="l" t="t" r="r" b="b"/>
              <a:pathLst>
                <a:path w="3888027" h="405068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45950"/>
                  </a:lnTo>
                  <a:cubicBezTo>
                    <a:pt x="3888027" y="378600"/>
                    <a:pt x="3861559" y="405068"/>
                    <a:pt x="3828909" y="405068"/>
                  </a:cubicBezTo>
                  <a:lnTo>
                    <a:pt x="59118" y="405068"/>
                  </a:lnTo>
                  <a:cubicBezTo>
                    <a:pt x="43439" y="405068"/>
                    <a:pt x="28402" y="398839"/>
                    <a:pt x="17315" y="387752"/>
                  </a:cubicBezTo>
                  <a:cubicBezTo>
                    <a:pt x="6228" y="376666"/>
                    <a:pt x="0" y="361629"/>
                    <a:pt x="0" y="345950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3888027" cy="471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002" y="3703636"/>
            <a:ext cx="6678844" cy="925654"/>
            <a:chOff x="0" y="0"/>
            <a:chExt cx="3888027" cy="5388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88027" cy="538861"/>
            </a:xfrm>
            <a:custGeom>
              <a:avLst/>
              <a:gdLst/>
              <a:ahLst/>
              <a:cxnLst/>
              <a:rect l="l" t="t" r="r" b="b"/>
              <a:pathLst>
                <a:path w="3888027" h="538861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479743"/>
                  </a:lnTo>
                  <a:cubicBezTo>
                    <a:pt x="3888027" y="512393"/>
                    <a:pt x="3861559" y="538861"/>
                    <a:pt x="3828909" y="538861"/>
                  </a:cubicBezTo>
                  <a:lnTo>
                    <a:pt x="59118" y="538861"/>
                  </a:lnTo>
                  <a:cubicBezTo>
                    <a:pt x="43439" y="538861"/>
                    <a:pt x="28402" y="532632"/>
                    <a:pt x="17315" y="521546"/>
                  </a:cubicBezTo>
                  <a:cubicBezTo>
                    <a:pt x="6228" y="510459"/>
                    <a:pt x="0" y="495422"/>
                    <a:pt x="0" y="479743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CF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3888027" cy="605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77968" y="4638815"/>
            <a:ext cx="9149786" cy="68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799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MedSAM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unseen data, but every image still needs a clinician to draw boxes manually — not practical at scale.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177968" y="3875924"/>
            <a:ext cx="541545" cy="496191"/>
          </a:xfrm>
          <a:custGeom>
            <a:avLst/>
            <a:gdLst/>
            <a:ahLst/>
            <a:cxnLst/>
            <a:rect l="l" t="t" r="r" b="b"/>
            <a:pathLst>
              <a:path w="541545" h="496191">
                <a:moveTo>
                  <a:pt x="0" y="0"/>
                </a:moveTo>
                <a:lnTo>
                  <a:pt x="541545" y="0"/>
                </a:lnTo>
                <a:lnTo>
                  <a:pt x="541545" y="496191"/>
                </a:lnTo>
                <a:lnTo>
                  <a:pt x="0" y="496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69002" y="5702651"/>
            <a:ext cx="6678844" cy="695824"/>
            <a:chOff x="0" y="0"/>
            <a:chExt cx="3888027" cy="4050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88027" cy="405068"/>
            </a:xfrm>
            <a:custGeom>
              <a:avLst/>
              <a:gdLst/>
              <a:ahLst/>
              <a:cxnLst/>
              <a:rect l="l" t="t" r="r" b="b"/>
              <a:pathLst>
                <a:path w="3888027" h="405068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45950"/>
                  </a:lnTo>
                  <a:cubicBezTo>
                    <a:pt x="3888027" y="378600"/>
                    <a:pt x="3861559" y="405068"/>
                    <a:pt x="3828909" y="405068"/>
                  </a:cubicBezTo>
                  <a:lnTo>
                    <a:pt x="59118" y="405068"/>
                  </a:lnTo>
                  <a:cubicBezTo>
                    <a:pt x="43439" y="405068"/>
                    <a:pt x="28402" y="398839"/>
                    <a:pt x="17315" y="387752"/>
                  </a:cubicBezTo>
                  <a:cubicBezTo>
                    <a:pt x="6228" y="376666"/>
                    <a:pt x="0" y="361629"/>
                    <a:pt x="0" y="345950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3888027" cy="471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9002" y="5620969"/>
            <a:ext cx="6678844" cy="678004"/>
            <a:chOff x="0" y="0"/>
            <a:chExt cx="3888027" cy="3946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88027" cy="394694"/>
            </a:xfrm>
            <a:custGeom>
              <a:avLst/>
              <a:gdLst/>
              <a:ahLst/>
              <a:cxnLst/>
              <a:rect l="l" t="t" r="r" b="b"/>
              <a:pathLst>
                <a:path w="3888027" h="394694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35576"/>
                  </a:lnTo>
                  <a:cubicBezTo>
                    <a:pt x="3888027" y="368226"/>
                    <a:pt x="3861559" y="394694"/>
                    <a:pt x="3828909" y="394694"/>
                  </a:cubicBezTo>
                  <a:lnTo>
                    <a:pt x="59118" y="394694"/>
                  </a:lnTo>
                  <a:cubicBezTo>
                    <a:pt x="43439" y="394694"/>
                    <a:pt x="28402" y="388465"/>
                    <a:pt x="17315" y="377379"/>
                  </a:cubicBezTo>
                  <a:cubicBezTo>
                    <a:pt x="6228" y="366292"/>
                    <a:pt x="0" y="351255"/>
                    <a:pt x="0" y="335576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CF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3888027" cy="461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216852" y="5745681"/>
            <a:ext cx="400892" cy="400892"/>
          </a:xfrm>
          <a:custGeom>
            <a:avLst/>
            <a:gdLst/>
            <a:ahLst/>
            <a:cxnLst/>
            <a:rect l="l" t="t" r="r" b="b"/>
            <a:pathLst>
              <a:path w="400892" h="400892">
                <a:moveTo>
                  <a:pt x="0" y="0"/>
                </a:moveTo>
                <a:lnTo>
                  <a:pt x="400892" y="0"/>
                </a:lnTo>
                <a:lnTo>
                  <a:pt x="400892" y="400892"/>
                </a:lnTo>
                <a:lnTo>
                  <a:pt x="0" y="400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77968" y="6522300"/>
            <a:ext cx="988469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4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&lt;SEG&gt; token breaks the model's language ability and locks it into one single pass — no </a:t>
            </a:r>
          </a:p>
          <a:p>
            <a:pPr>
              <a:lnSpc>
                <a:spcPts val="2124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going back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969002" y="7437229"/>
            <a:ext cx="6678844" cy="695824"/>
            <a:chOff x="0" y="0"/>
            <a:chExt cx="3888027" cy="4050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88027" cy="405068"/>
            </a:xfrm>
            <a:custGeom>
              <a:avLst/>
              <a:gdLst/>
              <a:ahLst/>
              <a:cxnLst/>
              <a:rect l="l" t="t" r="r" b="b"/>
              <a:pathLst>
                <a:path w="3888027" h="405068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45950"/>
                  </a:lnTo>
                  <a:cubicBezTo>
                    <a:pt x="3888027" y="378600"/>
                    <a:pt x="3861559" y="405068"/>
                    <a:pt x="3828909" y="405068"/>
                  </a:cubicBezTo>
                  <a:lnTo>
                    <a:pt x="59118" y="405068"/>
                  </a:lnTo>
                  <a:cubicBezTo>
                    <a:pt x="43439" y="405068"/>
                    <a:pt x="28402" y="398839"/>
                    <a:pt x="17315" y="387752"/>
                  </a:cubicBezTo>
                  <a:cubicBezTo>
                    <a:pt x="6228" y="376666"/>
                    <a:pt x="0" y="361629"/>
                    <a:pt x="0" y="345950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3888027" cy="471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9002" y="7355547"/>
            <a:ext cx="6678844" cy="671458"/>
            <a:chOff x="0" y="0"/>
            <a:chExt cx="3888027" cy="39088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88027" cy="390883"/>
            </a:xfrm>
            <a:custGeom>
              <a:avLst/>
              <a:gdLst/>
              <a:ahLst/>
              <a:cxnLst/>
              <a:rect l="l" t="t" r="r" b="b"/>
              <a:pathLst>
                <a:path w="3888027" h="390883">
                  <a:moveTo>
                    <a:pt x="59118" y="0"/>
                  </a:moveTo>
                  <a:lnTo>
                    <a:pt x="3828909" y="0"/>
                  </a:lnTo>
                  <a:cubicBezTo>
                    <a:pt x="3844588" y="0"/>
                    <a:pt x="3859625" y="6228"/>
                    <a:pt x="3870711" y="17315"/>
                  </a:cubicBezTo>
                  <a:cubicBezTo>
                    <a:pt x="3881798" y="28402"/>
                    <a:pt x="3888027" y="43439"/>
                    <a:pt x="3888027" y="59118"/>
                  </a:cubicBezTo>
                  <a:lnTo>
                    <a:pt x="3888027" y="331765"/>
                  </a:lnTo>
                  <a:cubicBezTo>
                    <a:pt x="3888027" y="364415"/>
                    <a:pt x="3861559" y="390883"/>
                    <a:pt x="3828909" y="390883"/>
                  </a:cubicBezTo>
                  <a:lnTo>
                    <a:pt x="59118" y="390883"/>
                  </a:lnTo>
                  <a:cubicBezTo>
                    <a:pt x="43439" y="390883"/>
                    <a:pt x="28402" y="384655"/>
                    <a:pt x="17315" y="373568"/>
                  </a:cubicBezTo>
                  <a:cubicBezTo>
                    <a:pt x="6228" y="362481"/>
                    <a:pt x="0" y="347444"/>
                    <a:pt x="0" y="331765"/>
                  </a:cubicBezTo>
                  <a:lnTo>
                    <a:pt x="0" y="59118"/>
                  </a:lnTo>
                  <a:cubicBezTo>
                    <a:pt x="0" y="43439"/>
                    <a:pt x="6228" y="28402"/>
                    <a:pt x="17315" y="17315"/>
                  </a:cubicBezTo>
                  <a:cubicBezTo>
                    <a:pt x="28402" y="6228"/>
                    <a:pt x="43439" y="0"/>
                    <a:pt x="59118" y="0"/>
                  </a:cubicBezTo>
                  <a:close/>
                </a:path>
              </a:pathLst>
            </a:custGeom>
            <a:solidFill>
              <a:srgbClr val="E9ECF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3888027" cy="457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216852" y="7471622"/>
            <a:ext cx="400892" cy="404941"/>
          </a:xfrm>
          <a:custGeom>
            <a:avLst/>
            <a:gdLst/>
            <a:ahLst/>
            <a:cxnLst/>
            <a:rect l="l" t="t" r="r" b="b"/>
            <a:pathLst>
              <a:path w="400892" h="404941">
                <a:moveTo>
                  <a:pt x="0" y="0"/>
                </a:moveTo>
                <a:lnTo>
                  <a:pt x="400892" y="0"/>
                </a:lnTo>
                <a:lnTo>
                  <a:pt x="400892" y="404941"/>
                </a:lnTo>
                <a:lnTo>
                  <a:pt x="0" y="404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708954" y="2842320"/>
            <a:ext cx="7332777" cy="4772971"/>
          </a:xfrm>
          <a:custGeom>
            <a:avLst/>
            <a:gdLst/>
            <a:ahLst/>
            <a:cxnLst/>
            <a:rect l="l" t="t" r="r" b="b"/>
            <a:pathLst>
              <a:path w="7332777" h="4772971">
                <a:moveTo>
                  <a:pt x="0" y="0"/>
                </a:moveTo>
                <a:lnTo>
                  <a:pt x="7332777" y="0"/>
                </a:lnTo>
                <a:lnTo>
                  <a:pt x="7332777" y="4772972"/>
                </a:lnTo>
                <a:lnTo>
                  <a:pt x="0" y="477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869315" y="1914628"/>
            <a:ext cx="5316349" cy="43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Task-Specific Supervised Models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76700" y="1077900"/>
            <a:ext cx="1013460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need agentic medical image analysis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49970" y="329895"/>
            <a:ext cx="13727249" cy="741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&amp; Problem Statement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183429" y="9762845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6293" y="9762845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25671" y="9762845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869315" y="3749815"/>
            <a:ext cx="610523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Interactive Models Require Expert Prompting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69315" y="5736156"/>
            <a:ext cx="6105230" cy="43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LISA-Style Implicit Token Approach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6852" y="8176426"/>
            <a:ext cx="9149786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4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existing method commits to one prediction and stops. A radiologist would never work </a:t>
            </a:r>
          </a:p>
          <a:p>
            <a:pPr>
              <a:lnSpc>
                <a:spcPts val="2124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way.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869315" y="7475031"/>
            <a:ext cx="6105230" cy="43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Iterative Refinement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976559" y="7858005"/>
            <a:ext cx="4044790" cy="32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Three Segmentation Paradigms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976559" y="8215510"/>
            <a:ext cx="5065172" cy="34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SAM-based (b) MLLM-driven (c) Agentic 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5" grpId="0"/>
      <p:bldP spid="34" grpId="0"/>
      <p:bldP spid="35" grpId="0"/>
      <p:bldP spid="36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29278" y="2950716"/>
            <a:ext cx="16138092" cy="0"/>
          </a:xfrm>
          <a:prstGeom prst="line">
            <a:avLst/>
          </a:prstGeom>
          <a:ln w="47625" cap="flat">
            <a:solidFill>
              <a:srgbClr val="2A2B3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" name="Freeform 3"/>
          <p:cNvSpPr/>
          <p:nvPr/>
        </p:nvSpPr>
        <p:spPr>
          <a:xfrm>
            <a:off x="15861163" y="2580433"/>
            <a:ext cx="934789" cy="934789"/>
          </a:xfrm>
          <a:custGeom>
            <a:avLst/>
            <a:gdLst/>
            <a:ahLst/>
            <a:cxnLst/>
            <a:rect l="l" t="t" r="r" b="b"/>
            <a:pathLst>
              <a:path w="934789" h="934789">
                <a:moveTo>
                  <a:pt x="0" y="0"/>
                </a:moveTo>
                <a:lnTo>
                  <a:pt x="934789" y="0"/>
                </a:lnTo>
                <a:lnTo>
                  <a:pt x="934789" y="934789"/>
                </a:lnTo>
                <a:lnTo>
                  <a:pt x="0" y="934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5762948" y="2501471"/>
            <a:ext cx="836033" cy="83603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5C75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467925" y="2580433"/>
            <a:ext cx="934789" cy="934789"/>
          </a:xfrm>
          <a:custGeom>
            <a:avLst/>
            <a:gdLst/>
            <a:ahLst/>
            <a:cxnLst/>
            <a:rect l="l" t="t" r="r" b="b"/>
            <a:pathLst>
              <a:path w="934789" h="934789">
                <a:moveTo>
                  <a:pt x="0" y="0"/>
                </a:moveTo>
                <a:lnTo>
                  <a:pt x="934789" y="0"/>
                </a:lnTo>
                <a:lnTo>
                  <a:pt x="934789" y="934789"/>
                </a:lnTo>
                <a:lnTo>
                  <a:pt x="0" y="934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12440759" y="2528585"/>
            <a:ext cx="836033" cy="83603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48CAB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91472" y="2580844"/>
            <a:ext cx="935160" cy="935160"/>
          </a:xfrm>
          <a:custGeom>
            <a:avLst/>
            <a:gdLst/>
            <a:ahLst/>
            <a:cxnLst/>
            <a:rect l="l" t="t" r="r" b="b"/>
            <a:pathLst>
              <a:path w="935160" h="935160">
                <a:moveTo>
                  <a:pt x="0" y="0"/>
                </a:moveTo>
                <a:lnTo>
                  <a:pt x="935160" y="0"/>
                </a:lnTo>
                <a:lnTo>
                  <a:pt x="935160" y="935160"/>
                </a:lnTo>
                <a:lnTo>
                  <a:pt x="0" y="935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338557" y="2528996"/>
            <a:ext cx="836033" cy="83603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2D44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980838" y="2607547"/>
            <a:ext cx="934789" cy="934789"/>
          </a:xfrm>
          <a:custGeom>
            <a:avLst/>
            <a:gdLst/>
            <a:ahLst/>
            <a:cxnLst/>
            <a:rect l="l" t="t" r="r" b="b"/>
            <a:pathLst>
              <a:path w="934789" h="934789">
                <a:moveTo>
                  <a:pt x="0" y="0"/>
                </a:moveTo>
                <a:lnTo>
                  <a:pt x="934789" y="0"/>
                </a:lnTo>
                <a:lnTo>
                  <a:pt x="934789" y="934789"/>
                </a:lnTo>
                <a:lnTo>
                  <a:pt x="0" y="934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4865862" y="2528585"/>
            <a:ext cx="836033" cy="83603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4E71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593289" y="2581215"/>
            <a:ext cx="934789" cy="934789"/>
          </a:xfrm>
          <a:custGeom>
            <a:avLst/>
            <a:gdLst/>
            <a:ahLst/>
            <a:cxnLst/>
            <a:rect l="l" t="t" r="r" b="b"/>
            <a:pathLst>
              <a:path w="934789" h="934789">
                <a:moveTo>
                  <a:pt x="0" y="0"/>
                </a:moveTo>
                <a:lnTo>
                  <a:pt x="934789" y="0"/>
                </a:lnTo>
                <a:lnTo>
                  <a:pt x="934789" y="934789"/>
                </a:lnTo>
                <a:lnTo>
                  <a:pt x="0" y="934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8503407" y="2528996"/>
            <a:ext cx="836033" cy="83603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5C75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H="1">
            <a:off x="8986557" y="5279161"/>
            <a:ext cx="11768" cy="3979082"/>
          </a:xfrm>
          <a:prstGeom prst="line">
            <a:avLst/>
          </a:prstGeom>
          <a:ln w="38100" cap="flat">
            <a:solidFill>
              <a:srgbClr val="2A2B39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9783985" y="6130764"/>
            <a:ext cx="506531" cy="426119"/>
          </a:xfrm>
          <a:custGeom>
            <a:avLst/>
            <a:gdLst/>
            <a:ahLst/>
            <a:cxnLst/>
            <a:rect l="l" t="t" r="r" b="b"/>
            <a:pathLst>
              <a:path w="506531" h="426119">
                <a:moveTo>
                  <a:pt x="0" y="0"/>
                </a:moveTo>
                <a:lnTo>
                  <a:pt x="506531" y="0"/>
                </a:lnTo>
                <a:lnTo>
                  <a:pt x="506531" y="426119"/>
                </a:lnTo>
                <a:lnTo>
                  <a:pt x="0" y="426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68079" y="6215585"/>
            <a:ext cx="383709" cy="383709"/>
          </a:xfrm>
          <a:custGeom>
            <a:avLst/>
            <a:gdLst/>
            <a:ahLst/>
            <a:cxnLst/>
            <a:rect l="l" t="t" r="r" b="b"/>
            <a:pathLst>
              <a:path w="383709" h="383709">
                <a:moveTo>
                  <a:pt x="0" y="0"/>
                </a:moveTo>
                <a:lnTo>
                  <a:pt x="383709" y="0"/>
                </a:lnTo>
                <a:lnTo>
                  <a:pt x="383709" y="383709"/>
                </a:lnTo>
                <a:lnTo>
                  <a:pt x="0" y="383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68079" y="6841261"/>
            <a:ext cx="383709" cy="383709"/>
          </a:xfrm>
          <a:custGeom>
            <a:avLst/>
            <a:gdLst/>
            <a:ahLst/>
            <a:cxnLst/>
            <a:rect l="l" t="t" r="r" b="b"/>
            <a:pathLst>
              <a:path w="383709" h="383709">
                <a:moveTo>
                  <a:pt x="0" y="0"/>
                </a:moveTo>
                <a:lnTo>
                  <a:pt x="383709" y="0"/>
                </a:lnTo>
                <a:lnTo>
                  <a:pt x="383709" y="383709"/>
                </a:lnTo>
                <a:lnTo>
                  <a:pt x="0" y="383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68079" y="7466938"/>
            <a:ext cx="383709" cy="383709"/>
          </a:xfrm>
          <a:custGeom>
            <a:avLst/>
            <a:gdLst/>
            <a:ahLst/>
            <a:cxnLst/>
            <a:rect l="l" t="t" r="r" b="b"/>
            <a:pathLst>
              <a:path w="383709" h="383709">
                <a:moveTo>
                  <a:pt x="0" y="0"/>
                </a:moveTo>
                <a:lnTo>
                  <a:pt x="383709" y="0"/>
                </a:lnTo>
                <a:lnTo>
                  <a:pt x="383709" y="383708"/>
                </a:lnTo>
                <a:lnTo>
                  <a:pt x="0" y="383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68079" y="8092614"/>
            <a:ext cx="383709" cy="383709"/>
          </a:xfrm>
          <a:custGeom>
            <a:avLst/>
            <a:gdLst/>
            <a:ahLst/>
            <a:cxnLst/>
            <a:rect l="l" t="t" r="r" b="b"/>
            <a:pathLst>
              <a:path w="383709" h="383709">
                <a:moveTo>
                  <a:pt x="0" y="0"/>
                </a:moveTo>
                <a:lnTo>
                  <a:pt x="383709" y="0"/>
                </a:lnTo>
                <a:lnTo>
                  <a:pt x="383709" y="383709"/>
                </a:lnTo>
                <a:lnTo>
                  <a:pt x="0" y="383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783985" y="6765513"/>
            <a:ext cx="506531" cy="426119"/>
          </a:xfrm>
          <a:custGeom>
            <a:avLst/>
            <a:gdLst/>
            <a:ahLst/>
            <a:cxnLst/>
            <a:rect l="l" t="t" r="r" b="b"/>
            <a:pathLst>
              <a:path w="506531" h="426119">
                <a:moveTo>
                  <a:pt x="0" y="0"/>
                </a:moveTo>
                <a:lnTo>
                  <a:pt x="506531" y="0"/>
                </a:lnTo>
                <a:lnTo>
                  <a:pt x="506531" y="426120"/>
                </a:lnTo>
                <a:lnTo>
                  <a:pt x="0" y="426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783985" y="7424527"/>
            <a:ext cx="506531" cy="426119"/>
          </a:xfrm>
          <a:custGeom>
            <a:avLst/>
            <a:gdLst/>
            <a:ahLst/>
            <a:cxnLst/>
            <a:rect l="l" t="t" r="r" b="b"/>
            <a:pathLst>
              <a:path w="506531" h="426119">
                <a:moveTo>
                  <a:pt x="0" y="0"/>
                </a:moveTo>
                <a:lnTo>
                  <a:pt x="506531" y="0"/>
                </a:lnTo>
                <a:lnTo>
                  <a:pt x="506531" y="426119"/>
                </a:lnTo>
                <a:lnTo>
                  <a:pt x="0" y="426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783985" y="8083541"/>
            <a:ext cx="506531" cy="426119"/>
          </a:xfrm>
          <a:custGeom>
            <a:avLst/>
            <a:gdLst/>
            <a:ahLst/>
            <a:cxnLst/>
            <a:rect l="l" t="t" r="r" b="b"/>
            <a:pathLst>
              <a:path w="506531" h="426119">
                <a:moveTo>
                  <a:pt x="0" y="0"/>
                </a:moveTo>
                <a:lnTo>
                  <a:pt x="506531" y="0"/>
                </a:lnTo>
                <a:lnTo>
                  <a:pt x="506531" y="426119"/>
                </a:lnTo>
                <a:lnTo>
                  <a:pt x="0" y="426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35010" y="2739153"/>
            <a:ext cx="406786" cy="401193"/>
          </a:xfrm>
          <a:custGeom>
            <a:avLst/>
            <a:gdLst/>
            <a:ahLst/>
            <a:cxnLst/>
            <a:rect l="l" t="t" r="r" b="b"/>
            <a:pathLst>
              <a:path w="406786" h="401193">
                <a:moveTo>
                  <a:pt x="0" y="0"/>
                </a:moveTo>
                <a:lnTo>
                  <a:pt x="406787" y="0"/>
                </a:lnTo>
                <a:lnTo>
                  <a:pt x="406787" y="401193"/>
                </a:lnTo>
                <a:lnTo>
                  <a:pt x="0" y="401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5109869" y="2718891"/>
            <a:ext cx="401193" cy="401193"/>
          </a:xfrm>
          <a:custGeom>
            <a:avLst/>
            <a:gdLst/>
            <a:ahLst/>
            <a:cxnLst/>
            <a:rect l="l" t="t" r="r" b="b"/>
            <a:pathLst>
              <a:path w="401193" h="401193">
                <a:moveTo>
                  <a:pt x="0" y="0"/>
                </a:moveTo>
                <a:lnTo>
                  <a:pt x="401193" y="0"/>
                </a:lnTo>
                <a:lnTo>
                  <a:pt x="401193" y="401193"/>
                </a:lnTo>
                <a:lnTo>
                  <a:pt x="0" y="401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8715832" y="2684110"/>
            <a:ext cx="411183" cy="456236"/>
          </a:xfrm>
          <a:custGeom>
            <a:avLst/>
            <a:gdLst/>
            <a:ahLst/>
            <a:cxnLst/>
            <a:rect l="l" t="t" r="r" b="b"/>
            <a:pathLst>
              <a:path w="411183" h="456236">
                <a:moveTo>
                  <a:pt x="0" y="0"/>
                </a:moveTo>
                <a:lnTo>
                  <a:pt x="411183" y="0"/>
                </a:lnTo>
                <a:lnTo>
                  <a:pt x="411183" y="456236"/>
                </a:lnTo>
                <a:lnTo>
                  <a:pt x="0" y="45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2644214" y="2690962"/>
            <a:ext cx="429122" cy="429122"/>
          </a:xfrm>
          <a:custGeom>
            <a:avLst/>
            <a:gdLst/>
            <a:ahLst/>
            <a:cxnLst/>
            <a:rect l="l" t="t" r="r" b="b"/>
            <a:pathLst>
              <a:path w="429122" h="429122">
                <a:moveTo>
                  <a:pt x="0" y="0"/>
                </a:moveTo>
                <a:lnTo>
                  <a:pt x="429123" y="0"/>
                </a:lnTo>
                <a:lnTo>
                  <a:pt x="429123" y="429122"/>
                </a:lnTo>
                <a:lnTo>
                  <a:pt x="0" y="429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5945889" y="2684110"/>
            <a:ext cx="464497" cy="426176"/>
          </a:xfrm>
          <a:custGeom>
            <a:avLst/>
            <a:gdLst/>
            <a:ahLst/>
            <a:cxnLst/>
            <a:rect l="l" t="t" r="r" b="b"/>
            <a:pathLst>
              <a:path w="464497" h="426176">
                <a:moveTo>
                  <a:pt x="0" y="0"/>
                </a:moveTo>
                <a:lnTo>
                  <a:pt x="464497" y="0"/>
                </a:lnTo>
                <a:lnTo>
                  <a:pt x="464497" y="426176"/>
                </a:lnTo>
                <a:lnTo>
                  <a:pt x="0" y="4261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5133901" y="416204"/>
            <a:ext cx="876587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 &amp; Related Work 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629490" y="3542336"/>
            <a:ext cx="1629810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Agentic RL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517835" y="3784271"/>
            <a:ext cx="2162290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Multi-turn MDP agents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37887" y="1880907"/>
            <a:ext cx="1761566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MedSAM / LISA  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37887" y="2113764"/>
            <a:ext cx="1920215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Med-domain + &lt;SEG&gt;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38557" y="3542336"/>
            <a:ext cx="836033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U-Net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38557" y="3775194"/>
            <a:ext cx="1906031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Task-specific FCN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65862" y="1854926"/>
            <a:ext cx="1049765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nnU-Net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65862" y="2096861"/>
            <a:ext cx="1586138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Auto-configured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25457" y="3487293"/>
            <a:ext cx="1427967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31755" y="3730405"/>
            <a:ext cx="1961153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Promptable foundation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326632" y="5124450"/>
            <a:ext cx="38525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LISA-Style Limitations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84745" y="6241186"/>
            <a:ext cx="706978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&lt;SEG&gt; token alters language distribution</a:t>
            </a:r>
          </a:p>
          <a:p>
            <a:pPr algn="l">
              <a:lnSpc>
                <a:spcPts val="2879"/>
              </a:lnSpc>
            </a:pPr>
            <a:endParaRPr lang="en-US" sz="2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484745" y="6866863"/>
            <a:ext cx="706978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fine-tuning raises catastrophic forgetting risk</a:t>
            </a:r>
          </a:p>
          <a:p>
            <a:pPr algn="l">
              <a:lnSpc>
                <a:spcPts val="2879"/>
              </a:lnSpc>
            </a:pPr>
            <a:endParaRPr lang="en-US" sz="2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84745" y="7492539"/>
            <a:ext cx="706978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Single-turn: no iterative refinement possible</a:t>
            </a:r>
          </a:p>
          <a:p>
            <a:pPr algn="l">
              <a:lnSpc>
                <a:spcPts val="2879"/>
              </a:lnSpc>
            </a:pPr>
            <a:endParaRPr lang="en-US" sz="2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484745" y="8118215"/>
            <a:ext cx="706978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support mask refinement workflows</a:t>
            </a:r>
          </a:p>
          <a:p>
            <a:pPr algn="l">
              <a:lnSpc>
                <a:spcPts val="2879"/>
              </a:lnSpc>
            </a:pPr>
            <a:endParaRPr lang="en-US" sz="2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64561" y="6203086"/>
            <a:ext cx="706978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Preserves MLLM's native text output space entirely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0464560" y="6828763"/>
            <a:ext cx="782343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loops: think, act, observe, correct, like a human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464561" y="7454439"/>
            <a:ext cx="706978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tools give real-time feedback at every step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464560" y="8080115"/>
            <a:ext cx="759483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trains the model to interact efficiently, not just randomly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7200819" y="9795073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33682" y="9795073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146513" y="9795073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064141" y="4272060"/>
            <a:ext cx="2793547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1" dirty="0">
                <a:solidFill>
                  <a:srgbClr val="00B2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Evolution of the field 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762126" y="5124450"/>
            <a:ext cx="526324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Agentic Approach Advantages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84745" y="2282616"/>
            <a:ext cx="742691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 dirty="0">
                <a:solidFill>
                  <a:srgbClr val="00B2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2015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081940" y="3537357"/>
            <a:ext cx="833686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>
                <a:solidFill>
                  <a:srgbClr val="00B2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2021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61490" y="2187366"/>
            <a:ext cx="914602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>
                <a:solidFill>
                  <a:srgbClr val="00B2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2023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690378" y="3487293"/>
            <a:ext cx="457200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1">
                <a:solidFill>
                  <a:srgbClr val="00B2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5912673" y="2161685"/>
            <a:ext cx="457200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1">
                <a:solidFill>
                  <a:srgbClr val="00B2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4794" y="2733975"/>
            <a:ext cx="6342218" cy="1044441"/>
            <a:chOff x="0" y="0"/>
            <a:chExt cx="5219405" cy="859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9405" cy="859535"/>
            </a:xfrm>
            <a:custGeom>
              <a:avLst/>
              <a:gdLst/>
              <a:ahLst/>
              <a:cxnLst/>
              <a:rect l="l" t="t" r="r" b="b"/>
              <a:pathLst>
                <a:path w="5219405" h="859535">
                  <a:moveTo>
                    <a:pt x="34179" y="0"/>
                  </a:moveTo>
                  <a:lnTo>
                    <a:pt x="5185226" y="0"/>
                  </a:lnTo>
                  <a:cubicBezTo>
                    <a:pt x="5204103" y="0"/>
                    <a:pt x="5219405" y="15303"/>
                    <a:pt x="5219405" y="34179"/>
                  </a:cubicBezTo>
                  <a:lnTo>
                    <a:pt x="5219405" y="825356"/>
                  </a:lnTo>
                  <a:cubicBezTo>
                    <a:pt x="5219405" y="844232"/>
                    <a:pt x="5204103" y="859535"/>
                    <a:pt x="5185226" y="859535"/>
                  </a:cubicBezTo>
                  <a:lnTo>
                    <a:pt x="34179" y="859535"/>
                  </a:lnTo>
                  <a:cubicBezTo>
                    <a:pt x="15303" y="859535"/>
                    <a:pt x="0" y="844232"/>
                    <a:pt x="0" y="825356"/>
                  </a:cubicBezTo>
                  <a:lnTo>
                    <a:pt x="0" y="34179"/>
                  </a:lnTo>
                  <a:cubicBezTo>
                    <a:pt x="0" y="15303"/>
                    <a:pt x="15303" y="0"/>
                    <a:pt x="34179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219405" cy="926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794" y="2656659"/>
            <a:ext cx="6342218" cy="1044441"/>
            <a:chOff x="0" y="0"/>
            <a:chExt cx="5219405" cy="8595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19405" cy="859535"/>
            </a:xfrm>
            <a:custGeom>
              <a:avLst/>
              <a:gdLst/>
              <a:ahLst/>
              <a:cxnLst/>
              <a:rect l="l" t="t" r="r" b="b"/>
              <a:pathLst>
                <a:path w="5219405" h="859535">
                  <a:moveTo>
                    <a:pt x="34179" y="0"/>
                  </a:moveTo>
                  <a:lnTo>
                    <a:pt x="5185226" y="0"/>
                  </a:lnTo>
                  <a:cubicBezTo>
                    <a:pt x="5204103" y="0"/>
                    <a:pt x="5219405" y="15303"/>
                    <a:pt x="5219405" y="34179"/>
                  </a:cubicBezTo>
                  <a:lnTo>
                    <a:pt x="5219405" y="825356"/>
                  </a:lnTo>
                  <a:cubicBezTo>
                    <a:pt x="5219405" y="844232"/>
                    <a:pt x="5204103" y="859535"/>
                    <a:pt x="5185226" y="859535"/>
                  </a:cubicBezTo>
                  <a:lnTo>
                    <a:pt x="34179" y="859535"/>
                  </a:lnTo>
                  <a:cubicBezTo>
                    <a:pt x="15303" y="859535"/>
                    <a:pt x="0" y="844232"/>
                    <a:pt x="0" y="825356"/>
                  </a:cubicBezTo>
                  <a:lnTo>
                    <a:pt x="0" y="34179"/>
                  </a:lnTo>
                  <a:cubicBezTo>
                    <a:pt x="0" y="15303"/>
                    <a:pt x="15303" y="0"/>
                    <a:pt x="3417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219405" cy="926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4794" y="4122128"/>
            <a:ext cx="6342218" cy="1049261"/>
            <a:chOff x="0" y="0"/>
            <a:chExt cx="5219405" cy="8635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19405" cy="863502"/>
            </a:xfrm>
            <a:custGeom>
              <a:avLst/>
              <a:gdLst/>
              <a:ahLst/>
              <a:cxnLst/>
              <a:rect l="l" t="t" r="r" b="b"/>
              <a:pathLst>
                <a:path w="5219405" h="863502">
                  <a:moveTo>
                    <a:pt x="34179" y="0"/>
                  </a:moveTo>
                  <a:lnTo>
                    <a:pt x="5185226" y="0"/>
                  </a:lnTo>
                  <a:cubicBezTo>
                    <a:pt x="5204103" y="0"/>
                    <a:pt x="5219405" y="15303"/>
                    <a:pt x="5219405" y="34179"/>
                  </a:cubicBezTo>
                  <a:lnTo>
                    <a:pt x="5219405" y="829323"/>
                  </a:lnTo>
                  <a:cubicBezTo>
                    <a:pt x="5219405" y="848200"/>
                    <a:pt x="5204103" y="863502"/>
                    <a:pt x="5185226" y="863502"/>
                  </a:cubicBezTo>
                  <a:lnTo>
                    <a:pt x="34179" y="863502"/>
                  </a:lnTo>
                  <a:cubicBezTo>
                    <a:pt x="15303" y="863502"/>
                    <a:pt x="0" y="848200"/>
                    <a:pt x="0" y="829323"/>
                  </a:cubicBezTo>
                  <a:lnTo>
                    <a:pt x="0" y="34179"/>
                  </a:lnTo>
                  <a:cubicBezTo>
                    <a:pt x="0" y="15303"/>
                    <a:pt x="15303" y="0"/>
                    <a:pt x="34179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5219405" cy="93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4794" y="4044455"/>
            <a:ext cx="6342218" cy="1049261"/>
            <a:chOff x="0" y="0"/>
            <a:chExt cx="5219405" cy="8635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19405" cy="863502"/>
            </a:xfrm>
            <a:custGeom>
              <a:avLst/>
              <a:gdLst/>
              <a:ahLst/>
              <a:cxnLst/>
              <a:rect l="l" t="t" r="r" b="b"/>
              <a:pathLst>
                <a:path w="5219405" h="863502">
                  <a:moveTo>
                    <a:pt x="34179" y="0"/>
                  </a:moveTo>
                  <a:lnTo>
                    <a:pt x="5185226" y="0"/>
                  </a:lnTo>
                  <a:cubicBezTo>
                    <a:pt x="5204103" y="0"/>
                    <a:pt x="5219405" y="15303"/>
                    <a:pt x="5219405" y="34179"/>
                  </a:cubicBezTo>
                  <a:lnTo>
                    <a:pt x="5219405" y="829323"/>
                  </a:lnTo>
                  <a:cubicBezTo>
                    <a:pt x="5219405" y="848200"/>
                    <a:pt x="5204103" y="863502"/>
                    <a:pt x="5185226" y="863502"/>
                  </a:cubicBezTo>
                  <a:lnTo>
                    <a:pt x="34179" y="863502"/>
                  </a:lnTo>
                  <a:cubicBezTo>
                    <a:pt x="15303" y="863502"/>
                    <a:pt x="0" y="848200"/>
                    <a:pt x="0" y="829323"/>
                  </a:cubicBezTo>
                  <a:lnTo>
                    <a:pt x="0" y="34179"/>
                  </a:lnTo>
                  <a:cubicBezTo>
                    <a:pt x="0" y="15303"/>
                    <a:pt x="15303" y="0"/>
                    <a:pt x="3417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219405" cy="93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4794" y="5591962"/>
            <a:ext cx="6342218" cy="1049261"/>
            <a:chOff x="0" y="0"/>
            <a:chExt cx="5219405" cy="8635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19405" cy="863502"/>
            </a:xfrm>
            <a:custGeom>
              <a:avLst/>
              <a:gdLst/>
              <a:ahLst/>
              <a:cxnLst/>
              <a:rect l="l" t="t" r="r" b="b"/>
              <a:pathLst>
                <a:path w="5219405" h="863502">
                  <a:moveTo>
                    <a:pt x="34179" y="0"/>
                  </a:moveTo>
                  <a:lnTo>
                    <a:pt x="5185226" y="0"/>
                  </a:lnTo>
                  <a:cubicBezTo>
                    <a:pt x="5204103" y="0"/>
                    <a:pt x="5219405" y="15303"/>
                    <a:pt x="5219405" y="34179"/>
                  </a:cubicBezTo>
                  <a:lnTo>
                    <a:pt x="5219405" y="829323"/>
                  </a:lnTo>
                  <a:cubicBezTo>
                    <a:pt x="5219405" y="848200"/>
                    <a:pt x="5204103" y="863502"/>
                    <a:pt x="5185226" y="863502"/>
                  </a:cubicBezTo>
                  <a:lnTo>
                    <a:pt x="34179" y="863502"/>
                  </a:lnTo>
                  <a:cubicBezTo>
                    <a:pt x="15303" y="863502"/>
                    <a:pt x="0" y="848200"/>
                    <a:pt x="0" y="829323"/>
                  </a:cubicBezTo>
                  <a:lnTo>
                    <a:pt x="0" y="34179"/>
                  </a:lnTo>
                  <a:cubicBezTo>
                    <a:pt x="0" y="15303"/>
                    <a:pt x="15303" y="0"/>
                    <a:pt x="34179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219405" cy="93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4794" y="5514289"/>
            <a:ext cx="6342218" cy="1049261"/>
            <a:chOff x="0" y="0"/>
            <a:chExt cx="5219405" cy="8635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19405" cy="863502"/>
            </a:xfrm>
            <a:custGeom>
              <a:avLst/>
              <a:gdLst/>
              <a:ahLst/>
              <a:cxnLst/>
              <a:rect l="l" t="t" r="r" b="b"/>
              <a:pathLst>
                <a:path w="5219405" h="863502">
                  <a:moveTo>
                    <a:pt x="34179" y="0"/>
                  </a:moveTo>
                  <a:lnTo>
                    <a:pt x="5185226" y="0"/>
                  </a:lnTo>
                  <a:cubicBezTo>
                    <a:pt x="5204103" y="0"/>
                    <a:pt x="5219405" y="15303"/>
                    <a:pt x="5219405" y="34179"/>
                  </a:cubicBezTo>
                  <a:lnTo>
                    <a:pt x="5219405" y="829323"/>
                  </a:lnTo>
                  <a:cubicBezTo>
                    <a:pt x="5219405" y="848200"/>
                    <a:pt x="5204103" y="863502"/>
                    <a:pt x="5185226" y="863502"/>
                  </a:cubicBezTo>
                  <a:lnTo>
                    <a:pt x="34179" y="863502"/>
                  </a:lnTo>
                  <a:cubicBezTo>
                    <a:pt x="15303" y="863502"/>
                    <a:pt x="0" y="848200"/>
                    <a:pt x="0" y="829323"/>
                  </a:cubicBezTo>
                  <a:lnTo>
                    <a:pt x="0" y="34179"/>
                  </a:lnTo>
                  <a:cubicBezTo>
                    <a:pt x="0" y="15303"/>
                    <a:pt x="15303" y="0"/>
                    <a:pt x="3417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5219405" cy="93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328688" y="2733975"/>
            <a:ext cx="9507596" cy="3505926"/>
          </a:xfrm>
          <a:custGeom>
            <a:avLst/>
            <a:gdLst/>
            <a:ahLst/>
            <a:cxnLst/>
            <a:rect l="l" t="t" r="r" b="b"/>
            <a:pathLst>
              <a:path w="9507596" h="3505926">
                <a:moveTo>
                  <a:pt x="0" y="0"/>
                </a:moveTo>
                <a:lnTo>
                  <a:pt x="9507595" y="0"/>
                </a:lnTo>
                <a:lnTo>
                  <a:pt x="9507595" y="3505926"/>
                </a:lnTo>
                <a:lnTo>
                  <a:pt x="0" y="350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686018" y="1024598"/>
            <a:ext cx="645841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Jiang et al., 2026 · Zhejiang University &amp; Shanghai AI Lab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01461" y="286525"/>
            <a:ext cx="12980593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sz="4799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</a:t>
            </a:r>
            <a:r>
              <a:rPr lang="en-US" sz="4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Architecture &amp; Core Formulation 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04133" y="3113356"/>
            <a:ext cx="6061340" cy="60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reasoning conditioned on interaction history </a:t>
            </a:r>
          </a:p>
          <a:p>
            <a:pPr algn="l">
              <a:lnSpc>
                <a:spcPts val="236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current visual observation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1112" y="2638725"/>
            <a:ext cx="533022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04133" y="2724450"/>
            <a:ext cx="4290702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Textual Thinking 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04133" y="4533465"/>
            <a:ext cx="6061340" cy="60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Text-based click: {Target, Attribute ∈ {+1,−1}, Coordinate_2d ∈ [0,1]²}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1112" y="4062899"/>
            <a:ext cx="533022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04133" y="4144560"/>
            <a:ext cx="4155211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Action at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4133" y="5924499"/>
            <a:ext cx="6913332" cy="60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mask Mt overlaid semi-transparently on image </a:t>
            </a:r>
          </a:p>
          <a:p>
            <a:pPr algn="l">
              <a:lnSpc>
                <a:spcPts val="236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re-encoded by vision encoder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1112" y="5533339"/>
            <a:ext cx="533022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4133" y="5600014"/>
            <a:ext cx="4155211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 </a:t>
            </a:r>
            <a:r>
              <a:rPr lang="en-US" sz="2400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ot</a:t>
            </a:r>
            <a:endParaRPr lang="en-US" sz="2400" b="1" dirty="0">
              <a:solidFill>
                <a:srgbClr val="041F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28700" y="1959006"/>
            <a:ext cx="8402939" cy="43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Segmentation as a Multi-Step Markov Decision Process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72412" y="6650863"/>
            <a:ext cx="4458188" cy="32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IBISAgent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Framework 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4794" y="7708144"/>
            <a:ext cx="10150733" cy="40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Policy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rt+1, at+1 ~ πθ(· | I, Q, P&lt;t)  ·Reward S = ⅕(Sans +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Sformat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Sclick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Spseg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Slen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45306" y="9788312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8170" y="9788312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91000" y="9788312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7793" y="3360082"/>
            <a:ext cx="513095" cy="343658"/>
            <a:chOff x="0" y="0"/>
            <a:chExt cx="812800" cy="544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622807"/>
            <a:ext cx="7787769" cy="502800"/>
            <a:chOff x="0" y="0"/>
            <a:chExt cx="2051100" cy="1324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847" y="0"/>
                  </a:moveTo>
                  <a:lnTo>
                    <a:pt x="2025253" y="0"/>
                  </a:lnTo>
                  <a:cubicBezTo>
                    <a:pt x="2032108" y="0"/>
                    <a:pt x="2038682" y="2723"/>
                    <a:pt x="2043529" y="7570"/>
                  </a:cubicBezTo>
                  <a:cubicBezTo>
                    <a:pt x="2048377" y="12418"/>
                    <a:pt x="2051100" y="18992"/>
                    <a:pt x="2051100" y="25847"/>
                  </a:cubicBezTo>
                  <a:lnTo>
                    <a:pt x="2051100" y="106578"/>
                  </a:lnTo>
                  <a:cubicBezTo>
                    <a:pt x="2051100" y="113433"/>
                    <a:pt x="2048377" y="120007"/>
                    <a:pt x="2043529" y="124854"/>
                  </a:cubicBezTo>
                  <a:cubicBezTo>
                    <a:pt x="2038682" y="129702"/>
                    <a:pt x="2032108" y="132425"/>
                    <a:pt x="2025253" y="132425"/>
                  </a:cubicBezTo>
                  <a:lnTo>
                    <a:pt x="25847" y="132425"/>
                  </a:lnTo>
                  <a:cubicBezTo>
                    <a:pt x="18992" y="132425"/>
                    <a:pt x="12418" y="129702"/>
                    <a:pt x="7570" y="124854"/>
                  </a:cubicBezTo>
                  <a:cubicBezTo>
                    <a:pt x="2723" y="120007"/>
                    <a:pt x="0" y="113433"/>
                    <a:pt x="0" y="106578"/>
                  </a:cubicBezTo>
                  <a:lnTo>
                    <a:pt x="0" y="25847"/>
                  </a:lnTo>
                  <a:cubicBezTo>
                    <a:pt x="0" y="18992"/>
                    <a:pt x="2723" y="12418"/>
                    <a:pt x="7570" y="7570"/>
                  </a:cubicBezTo>
                  <a:cubicBezTo>
                    <a:pt x="12418" y="2723"/>
                    <a:pt x="18992" y="0"/>
                    <a:pt x="25847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360082"/>
            <a:ext cx="592260" cy="525449"/>
            <a:chOff x="0" y="0"/>
            <a:chExt cx="1316929" cy="1168368"/>
          </a:xfrm>
        </p:grpSpPr>
        <p:sp>
          <p:nvSpPr>
            <p:cNvPr id="9" name="Freeform 9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9144000" y="2032918"/>
            <a:ext cx="0" cy="6783902"/>
          </a:xfrm>
          <a:prstGeom prst="line">
            <a:avLst/>
          </a:prstGeom>
          <a:ln w="38100" cap="flat">
            <a:solidFill>
              <a:srgbClr val="2A2B39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267793" y="4380252"/>
            <a:ext cx="513095" cy="343658"/>
            <a:chOff x="0" y="0"/>
            <a:chExt cx="812800" cy="5443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4642975"/>
            <a:ext cx="7787769" cy="665513"/>
            <a:chOff x="0" y="0"/>
            <a:chExt cx="2051100" cy="1324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847" y="0"/>
                  </a:moveTo>
                  <a:lnTo>
                    <a:pt x="2025253" y="0"/>
                  </a:lnTo>
                  <a:cubicBezTo>
                    <a:pt x="2032108" y="0"/>
                    <a:pt x="2038682" y="2723"/>
                    <a:pt x="2043529" y="7570"/>
                  </a:cubicBezTo>
                  <a:cubicBezTo>
                    <a:pt x="2048377" y="12418"/>
                    <a:pt x="2051100" y="18992"/>
                    <a:pt x="2051100" y="25847"/>
                  </a:cubicBezTo>
                  <a:lnTo>
                    <a:pt x="2051100" y="106578"/>
                  </a:lnTo>
                  <a:cubicBezTo>
                    <a:pt x="2051100" y="113433"/>
                    <a:pt x="2048377" y="120007"/>
                    <a:pt x="2043529" y="124854"/>
                  </a:cubicBezTo>
                  <a:cubicBezTo>
                    <a:pt x="2038682" y="129702"/>
                    <a:pt x="2032108" y="132425"/>
                    <a:pt x="2025253" y="132425"/>
                  </a:cubicBezTo>
                  <a:lnTo>
                    <a:pt x="25847" y="132425"/>
                  </a:lnTo>
                  <a:cubicBezTo>
                    <a:pt x="18992" y="132425"/>
                    <a:pt x="12418" y="129702"/>
                    <a:pt x="7570" y="124854"/>
                  </a:cubicBezTo>
                  <a:cubicBezTo>
                    <a:pt x="2723" y="120007"/>
                    <a:pt x="0" y="113433"/>
                    <a:pt x="0" y="106578"/>
                  </a:cubicBezTo>
                  <a:lnTo>
                    <a:pt x="0" y="25847"/>
                  </a:lnTo>
                  <a:cubicBezTo>
                    <a:pt x="0" y="18992"/>
                    <a:pt x="2723" y="12418"/>
                    <a:pt x="7570" y="7570"/>
                  </a:cubicBezTo>
                  <a:cubicBezTo>
                    <a:pt x="12418" y="2723"/>
                    <a:pt x="18992" y="0"/>
                    <a:pt x="25847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4380252"/>
            <a:ext cx="592260" cy="525449"/>
            <a:chOff x="0" y="0"/>
            <a:chExt cx="1316929" cy="1168368"/>
          </a:xfrm>
        </p:grpSpPr>
        <p:sp>
          <p:nvSpPr>
            <p:cNvPr id="19" name="Freeform 19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7793" y="5400422"/>
            <a:ext cx="513095" cy="343658"/>
            <a:chOff x="0" y="0"/>
            <a:chExt cx="812800" cy="5443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5663145"/>
            <a:ext cx="7787769" cy="746167"/>
            <a:chOff x="0" y="0"/>
            <a:chExt cx="2051100" cy="1324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847" y="0"/>
                  </a:moveTo>
                  <a:lnTo>
                    <a:pt x="2025253" y="0"/>
                  </a:lnTo>
                  <a:cubicBezTo>
                    <a:pt x="2032108" y="0"/>
                    <a:pt x="2038682" y="2723"/>
                    <a:pt x="2043529" y="7570"/>
                  </a:cubicBezTo>
                  <a:cubicBezTo>
                    <a:pt x="2048377" y="12418"/>
                    <a:pt x="2051100" y="18992"/>
                    <a:pt x="2051100" y="25847"/>
                  </a:cubicBezTo>
                  <a:lnTo>
                    <a:pt x="2051100" y="106578"/>
                  </a:lnTo>
                  <a:cubicBezTo>
                    <a:pt x="2051100" y="113433"/>
                    <a:pt x="2048377" y="120007"/>
                    <a:pt x="2043529" y="124854"/>
                  </a:cubicBezTo>
                  <a:cubicBezTo>
                    <a:pt x="2038682" y="129702"/>
                    <a:pt x="2032108" y="132425"/>
                    <a:pt x="2025253" y="132425"/>
                  </a:cubicBezTo>
                  <a:lnTo>
                    <a:pt x="25847" y="132425"/>
                  </a:lnTo>
                  <a:cubicBezTo>
                    <a:pt x="18992" y="132425"/>
                    <a:pt x="12418" y="129702"/>
                    <a:pt x="7570" y="124854"/>
                  </a:cubicBezTo>
                  <a:cubicBezTo>
                    <a:pt x="2723" y="120007"/>
                    <a:pt x="0" y="113433"/>
                    <a:pt x="0" y="106578"/>
                  </a:cubicBezTo>
                  <a:lnTo>
                    <a:pt x="0" y="25847"/>
                  </a:lnTo>
                  <a:cubicBezTo>
                    <a:pt x="0" y="18992"/>
                    <a:pt x="2723" y="12418"/>
                    <a:pt x="7570" y="7570"/>
                  </a:cubicBezTo>
                  <a:cubicBezTo>
                    <a:pt x="12418" y="2723"/>
                    <a:pt x="18992" y="0"/>
                    <a:pt x="25847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5400422"/>
            <a:ext cx="592260" cy="525449"/>
            <a:chOff x="0" y="0"/>
            <a:chExt cx="1316929" cy="1168368"/>
          </a:xfrm>
        </p:grpSpPr>
        <p:sp>
          <p:nvSpPr>
            <p:cNvPr id="28" name="Freeform 28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67793" y="6420591"/>
            <a:ext cx="513095" cy="343658"/>
            <a:chOff x="0" y="0"/>
            <a:chExt cx="812800" cy="5443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28700" y="6683316"/>
            <a:ext cx="7787769" cy="664210"/>
            <a:chOff x="0" y="0"/>
            <a:chExt cx="2051100" cy="1749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51100" cy="174936"/>
            </a:xfrm>
            <a:custGeom>
              <a:avLst/>
              <a:gdLst/>
              <a:ahLst/>
              <a:cxnLst/>
              <a:rect l="l" t="t" r="r" b="b"/>
              <a:pathLst>
                <a:path w="2051100" h="174936">
                  <a:moveTo>
                    <a:pt x="25847" y="0"/>
                  </a:moveTo>
                  <a:lnTo>
                    <a:pt x="2025253" y="0"/>
                  </a:lnTo>
                  <a:cubicBezTo>
                    <a:pt x="2032108" y="0"/>
                    <a:pt x="2038682" y="2723"/>
                    <a:pt x="2043529" y="7570"/>
                  </a:cubicBezTo>
                  <a:cubicBezTo>
                    <a:pt x="2048377" y="12418"/>
                    <a:pt x="2051100" y="18992"/>
                    <a:pt x="2051100" y="25847"/>
                  </a:cubicBezTo>
                  <a:lnTo>
                    <a:pt x="2051100" y="149089"/>
                  </a:lnTo>
                  <a:cubicBezTo>
                    <a:pt x="2051100" y="155944"/>
                    <a:pt x="2048377" y="162518"/>
                    <a:pt x="2043529" y="167366"/>
                  </a:cubicBezTo>
                  <a:cubicBezTo>
                    <a:pt x="2038682" y="172213"/>
                    <a:pt x="2032108" y="174936"/>
                    <a:pt x="2025253" y="174936"/>
                  </a:cubicBezTo>
                  <a:lnTo>
                    <a:pt x="25847" y="174936"/>
                  </a:lnTo>
                  <a:cubicBezTo>
                    <a:pt x="18992" y="174936"/>
                    <a:pt x="12418" y="172213"/>
                    <a:pt x="7570" y="167366"/>
                  </a:cubicBezTo>
                  <a:cubicBezTo>
                    <a:pt x="2723" y="162518"/>
                    <a:pt x="0" y="155944"/>
                    <a:pt x="0" y="149089"/>
                  </a:cubicBezTo>
                  <a:lnTo>
                    <a:pt x="0" y="25847"/>
                  </a:lnTo>
                  <a:cubicBezTo>
                    <a:pt x="0" y="18992"/>
                    <a:pt x="2723" y="12418"/>
                    <a:pt x="7570" y="7570"/>
                  </a:cubicBezTo>
                  <a:cubicBezTo>
                    <a:pt x="12418" y="2723"/>
                    <a:pt x="18992" y="0"/>
                    <a:pt x="25847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2051100" cy="232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28700" y="6420591"/>
            <a:ext cx="592260" cy="525449"/>
            <a:chOff x="0" y="0"/>
            <a:chExt cx="1316929" cy="1168368"/>
          </a:xfrm>
        </p:grpSpPr>
        <p:sp>
          <p:nvSpPr>
            <p:cNvPr id="37" name="Freeform 37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67793" y="7522820"/>
            <a:ext cx="513095" cy="343658"/>
            <a:chOff x="0" y="0"/>
            <a:chExt cx="812800" cy="54439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28700" y="7785544"/>
            <a:ext cx="7787769" cy="502800"/>
            <a:chOff x="0" y="0"/>
            <a:chExt cx="2051100" cy="13242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847" y="0"/>
                  </a:moveTo>
                  <a:lnTo>
                    <a:pt x="2025253" y="0"/>
                  </a:lnTo>
                  <a:cubicBezTo>
                    <a:pt x="2032108" y="0"/>
                    <a:pt x="2038682" y="2723"/>
                    <a:pt x="2043529" y="7570"/>
                  </a:cubicBezTo>
                  <a:cubicBezTo>
                    <a:pt x="2048377" y="12418"/>
                    <a:pt x="2051100" y="18992"/>
                    <a:pt x="2051100" y="25847"/>
                  </a:cubicBezTo>
                  <a:lnTo>
                    <a:pt x="2051100" y="106578"/>
                  </a:lnTo>
                  <a:cubicBezTo>
                    <a:pt x="2051100" y="113433"/>
                    <a:pt x="2048377" y="120007"/>
                    <a:pt x="2043529" y="124854"/>
                  </a:cubicBezTo>
                  <a:cubicBezTo>
                    <a:pt x="2038682" y="129702"/>
                    <a:pt x="2032108" y="132425"/>
                    <a:pt x="2025253" y="132425"/>
                  </a:cubicBezTo>
                  <a:lnTo>
                    <a:pt x="25847" y="132425"/>
                  </a:lnTo>
                  <a:cubicBezTo>
                    <a:pt x="18992" y="132425"/>
                    <a:pt x="12418" y="129702"/>
                    <a:pt x="7570" y="124854"/>
                  </a:cubicBezTo>
                  <a:cubicBezTo>
                    <a:pt x="2723" y="120007"/>
                    <a:pt x="0" y="113433"/>
                    <a:pt x="0" y="106578"/>
                  </a:cubicBezTo>
                  <a:lnTo>
                    <a:pt x="0" y="25847"/>
                  </a:lnTo>
                  <a:cubicBezTo>
                    <a:pt x="0" y="18992"/>
                    <a:pt x="2723" y="12418"/>
                    <a:pt x="7570" y="7570"/>
                  </a:cubicBezTo>
                  <a:cubicBezTo>
                    <a:pt x="12418" y="2723"/>
                    <a:pt x="18992" y="0"/>
                    <a:pt x="25847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28700" y="7522820"/>
            <a:ext cx="592260" cy="525449"/>
            <a:chOff x="0" y="0"/>
            <a:chExt cx="1316929" cy="1168368"/>
          </a:xfrm>
        </p:grpSpPr>
        <p:sp>
          <p:nvSpPr>
            <p:cNvPr id="46" name="Freeform 46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066867" y="3368475"/>
            <a:ext cx="513095" cy="343658"/>
            <a:chOff x="0" y="0"/>
            <a:chExt cx="812800" cy="54439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827774" y="3631200"/>
            <a:ext cx="8060193" cy="533920"/>
            <a:chOff x="0" y="0"/>
            <a:chExt cx="2122849" cy="14062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22849" cy="140621"/>
            </a:xfrm>
            <a:custGeom>
              <a:avLst/>
              <a:gdLst/>
              <a:ahLst/>
              <a:cxnLst/>
              <a:rect l="l" t="t" r="r" b="b"/>
              <a:pathLst>
                <a:path w="2122849" h="140621">
                  <a:moveTo>
                    <a:pt x="24973" y="0"/>
                  </a:moveTo>
                  <a:lnTo>
                    <a:pt x="2097876" y="0"/>
                  </a:lnTo>
                  <a:cubicBezTo>
                    <a:pt x="2104499" y="0"/>
                    <a:pt x="2110851" y="2631"/>
                    <a:pt x="2115535" y="7315"/>
                  </a:cubicBezTo>
                  <a:cubicBezTo>
                    <a:pt x="2120218" y="11998"/>
                    <a:pt x="2122849" y="18350"/>
                    <a:pt x="2122849" y="24973"/>
                  </a:cubicBezTo>
                  <a:lnTo>
                    <a:pt x="2122849" y="115648"/>
                  </a:lnTo>
                  <a:cubicBezTo>
                    <a:pt x="2122849" y="122271"/>
                    <a:pt x="2120218" y="128623"/>
                    <a:pt x="2115535" y="133306"/>
                  </a:cubicBezTo>
                  <a:cubicBezTo>
                    <a:pt x="2110851" y="137990"/>
                    <a:pt x="2104499" y="140621"/>
                    <a:pt x="2097876" y="140621"/>
                  </a:cubicBezTo>
                  <a:lnTo>
                    <a:pt x="24973" y="140621"/>
                  </a:lnTo>
                  <a:cubicBezTo>
                    <a:pt x="18350" y="140621"/>
                    <a:pt x="11998" y="137990"/>
                    <a:pt x="7315" y="133306"/>
                  </a:cubicBezTo>
                  <a:cubicBezTo>
                    <a:pt x="2631" y="128623"/>
                    <a:pt x="0" y="122271"/>
                    <a:pt x="0" y="115648"/>
                  </a:cubicBezTo>
                  <a:lnTo>
                    <a:pt x="0" y="24973"/>
                  </a:lnTo>
                  <a:cubicBezTo>
                    <a:pt x="0" y="18350"/>
                    <a:pt x="2631" y="11998"/>
                    <a:pt x="7315" y="7315"/>
                  </a:cubicBezTo>
                  <a:cubicBezTo>
                    <a:pt x="11998" y="2631"/>
                    <a:pt x="18350" y="0"/>
                    <a:pt x="24973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2122849" cy="197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827774" y="3368475"/>
            <a:ext cx="592260" cy="525449"/>
            <a:chOff x="0" y="0"/>
            <a:chExt cx="1316929" cy="1168368"/>
          </a:xfrm>
        </p:grpSpPr>
        <p:sp>
          <p:nvSpPr>
            <p:cNvPr id="55" name="Freeform 55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066867" y="4388645"/>
            <a:ext cx="513095" cy="343658"/>
            <a:chOff x="0" y="0"/>
            <a:chExt cx="812800" cy="54439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827774" y="4578354"/>
            <a:ext cx="8060193" cy="730136"/>
            <a:chOff x="0" y="0"/>
            <a:chExt cx="2122849" cy="13511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22849" cy="135117"/>
            </a:xfrm>
            <a:custGeom>
              <a:avLst/>
              <a:gdLst/>
              <a:ahLst/>
              <a:cxnLst/>
              <a:rect l="l" t="t" r="r" b="b"/>
              <a:pathLst>
                <a:path w="2122849" h="135117">
                  <a:moveTo>
                    <a:pt x="24973" y="0"/>
                  </a:moveTo>
                  <a:lnTo>
                    <a:pt x="2097876" y="0"/>
                  </a:lnTo>
                  <a:cubicBezTo>
                    <a:pt x="2104499" y="0"/>
                    <a:pt x="2110851" y="2631"/>
                    <a:pt x="2115535" y="7315"/>
                  </a:cubicBezTo>
                  <a:cubicBezTo>
                    <a:pt x="2120218" y="11998"/>
                    <a:pt x="2122849" y="18350"/>
                    <a:pt x="2122849" y="24973"/>
                  </a:cubicBezTo>
                  <a:lnTo>
                    <a:pt x="2122849" y="110143"/>
                  </a:lnTo>
                  <a:cubicBezTo>
                    <a:pt x="2122849" y="116767"/>
                    <a:pt x="2120218" y="123119"/>
                    <a:pt x="2115535" y="127802"/>
                  </a:cubicBezTo>
                  <a:cubicBezTo>
                    <a:pt x="2110851" y="132486"/>
                    <a:pt x="2104499" y="135117"/>
                    <a:pt x="2097876" y="135117"/>
                  </a:cubicBezTo>
                  <a:lnTo>
                    <a:pt x="24973" y="135117"/>
                  </a:lnTo>
                  <a:cubicBezTo>
                    <a:pt x="18350" y="135117"/>
                    <a:pt x="11998" y="132486"/>
                    <a:pt x="7315" y="127802"/>
                  </a:cubicBezTo>
                  <a:cubicBezTo>
                    <a:pt x="2631" y="123119"/>
                    <a:pt x="0" y="116767"/>
                    <a:pt x="0" y="110143"/>
                  </a:cubicBezTo>
                  <a:lnTo>
                    <a:pt x="0" y="24973"/>
                  </a:lnTo>
                  <a:cubicBezTo>
                    <a:pt x="0" y="18350"/>
                    <a:pt x="2631" y="11998"/>
                    <a:pt x="7315" y="7315"/>
                  </a:cubicBezTo>
                  <a:cubicBezTo>
                    <a:pt x="11998" y="2631"/>
                    <a:pt x="18350" y="0"/>
                    <a:pt x="24973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57150"/>
              <a:ext cx="2122849" cy="192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827774" y="4388645"/>
            <a:ext cx="592260" cy="525449"/>
            <a:chOff x="0" y="0"/>
            <a:chExt cx="1316929" cy="1168368"/>
          </a:xfrm>
        </p:grpSpPr>
        <p:sp>
          <p:nvSpPr>
            <p:cNvPr id="64" name="Freeform 64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66867" y="5408815"/>
            <a:ext cx="513095" cy="343658"/>
            <a:chOff x="0" y="0"/>
            <a:chExt cx="812800" cy="5443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27774" y="5671539"/>
            <a:ext cx="8060193" cy="500270"/>
            <a:chOff x="0" y="0"/>
            <a:chExt cx="2122849" cy="13175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122849" cy="131758"/>
            </a:xfrm>
            <a:custGeom>
              <a:avLst/>
              <a:gdLst/>
              <a:ahLst/>
              <a:cxnLst/>
              <a:rect l="l" t="t" r="r" b="b"/>
              <a:pathLst>
                <a:path w="2122849" h="131758">
                  <a:moveTo>
                    <a:pt x="24973" y="0"/>
                  </a:moveTo>
                  <a:lnTo>
                    <a:pt x="2097876" y="0"/>
                  </a:lnTo>
                  <a:cubicBezTo>
                    <a:pt x="2104499" y="0"/>
                    <a:pt x="2110851" y="2631"/>
                    <a:pt x="2115535" y="7315"/>
                  </a:cubicBezTo>
                  <a:cubicBezTo>
                    <a:pt x="2120218" y="11998"/>
                    <a:pt x="2122849" y="18350"/>
                    <a:pt x="2122849" y="24973"/>
                  </a:cubicBezTo>
                  <a:lnTo>
                    <a:pt x="2122849" y="106785"/>
                  </a:lnTo>
                  <a:cubicBezTo>
                    <a:pt x="2122849" y="113408"/>
                    <a:pt x="2120218" y="119761"/>
                    <a:pt x="2115535" y="124444"/>
                  </a:cubicBezTo>
                  <a:cubicBezTo>
                    <a:pt x="2110851" y="129127"/>
                    <a:pt x="2104499" y="131758"/>
                    <a:pt x="2097876" y="131758"/>
                  </a:cubicBezTo>
                  <a:lnTo>
                    <a:pt x="24973" y="131758"/>
                  </a:lnTo>
                  <a:cubicBezTo>
                    <a:pt x="18350" y="131758"/>
                    <a:pt x="11998" y="129127"/>
                    <a:pt x="7315" y="124444"/>
                  </a:cubicBezTo>
                  <a:cubicBezTo>
                    <a:pt x="2631" y="119761"/>
                    <a:pt x="0" y="113408"/>
                    <a:pt x="0" y="106785"/>
                  </a:cubicBezTo>
                  <a:lnTo>
                    <a:pt x="0" y="24973"/>
                  </a:lnTo>
                  <a:cubicBezTo>
                    <a:pt x="0" y="18350"/>
                    <a:pt x="2631" y="11998"/>
                    <a:pt x="7315" y="7315"/>
                  </a:cubicBezTo>
                  <a:cubicBezTo>
                    <a:pt x="11998" y="2631"/>
                    <a:pt x="18350" y="0"/>
                    <a:pt x="24973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2122849" cy="188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827774" y="5408815"/>
            <a:ext cx="592260" cy="525449"/>
            <a:chOff x="0" y="0"/>
            <a:chExt cx="1316929" cy="1168368"/>
          </a:xfrm>
        </p:grpSpPr>
        <p:sp>
          <p:nvSpPr>
            <p:cNvPr id="73" name="Freeform 73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066867" y="6428984"/>
            <a:ext cx="513095" cy="343658"/>
            <a:chOff x="0" y="0"/>
            <a:chExt cx="812800" cy="5443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27774" y="6691709"/>
            <a:ext cx="8060193" cy="523980"/>
            <a:chOff x="0" y="0"/>
            <a:chExt cx="2122849" cy="13800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122849" cy="138003"/>
            </a:xfrm>
            <a:custGeom>
              <a:avLst/>
              <a:gdLst/>
              <a:ahLst/>
              <a:cxnLst/>
              <a:rect l="l" t="t" r="r" b="b"/>
              <a:pathLst>
                <a:path w="2122849" h="138003">
                  <a:moveTo>
                    <a:pt x="24973" y="0"/>
                  </a:moveTo>
                  <a:lnTo>
                    <a:pt x="2097876" y="0"/>
                  </a:lnTo>
                  <a:cubicBezTo>
                    <a:pt x="2104499" y="0"/>
                    <a:pt x="2110851" y="2631"/>
                    <a:pt x="2115535" y="7315"/>
                  </a:cubicBezTo>
                  <a:cubicBezTo>
                    <a:pt x="2120218" y="11998"/>
                    <a:pt x="2122849" y="18350"/>
                    <a:pt x="2122849" y="24973"/>
                  </a:cubicBezTo>
                  <a:lnTo>
                    <a:pt x="2122849" y="113030"/>
                  </a:lnTo>
                  <a:cubicBezTo>
                    <a:pt x="2122849" y="119653"/>
                    <a:pt x="2120218" y="126005"/>
                    <a:pt x="2115535" y="130688"/>
                  </a:cubicBezTo>
                  <a:cubicBezTo>
                    <a:pt x="2110851" y="135372"/>
                    <a:pt x="2104499" y="138003"/>
                    <a:pt x="2097876" y="138003"/>
                  </a:cubicBezTo>
                  <a:lnTo>
                    <a:pt x="24973" y="138003"/>
                  </a:lnTo>
                  <a:cubicBezTo>
                    <a:pt x="18350" y="138003"/>
                    <a:pt x="11998" y="135372"/>
                    <a:pt x="7315" y="130688"/>
                  </a:cubicBezTo>
                  <a:cubicBezTo>
                    <a:pt x="2631" y="126005"/>
                    <a:pt x="0" y="119653"/>
                    <a:pt x="0" y="113030"/>
                  </a:cubicBezTo>
                  <a:lnTo>
                    <a:pt x="0" y="24973"/>
                  </a:lnTo>
                  <a:cubicBezTo>
                    <a:pt x="0" y="18350"/>
                    <a:pt x="2631" y="11998"/>
                    <a:pt x="7315" y="7315"/>
                  </a:cubicBezTo>
                  <a:cubicBezTo>
                    <a:pt x="11998" y="2631"/>
                    <a:pt x="18350" y="0"/>
                    <a:pt x="24973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2122849" cy="195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827774" y="6428984"/>
            <a:ext cx="592260" cy="525449"/>
            <a:chOff x="0" y="0"/>
            <a:chExt cx="1316929" cy="1168368"/>
          </a:xfrm>
        </p:grpSpPr>
        <p:sp>
          <p:nvSpPr>
            <p:cNvPr id="82" name="Freeform 82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066867" y="7449154"/>
            <a:ext cx="513095" cy="343658"/>
            <a:chOff x="0" y="0"/>
            <a:chExt cx="812800" cy="5443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127000" y="186079"/>
              <a:ext cx="558800" cy="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827774" y="7711878"/>
            <a:ext cx="8060193" cy="538856"/>
            <a:chOff x="0" y="0"/>
            <a:chExt cx="2122849" cy="14192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122849" cy="141921"/>
            </a:xfrm>
            <a:custGeom>
              <a:avLst/>
              <a:gdLst/>
              <a:ahLst/>
              <a:cxnLst/>
              <a:rect l="l" t="t" r="r" b="b"/>
              <a:pathLst>
                <a:path w="2122849" h="141921">
                  <a:moveTo>
                    <a:pt x="24973" y="0"/>
                  </a:moveTo>
                  <a:lnTo>
                    <a:pt x="2097876" y="0"/>
                  </a:lnTo>
                  <a:cubicBezTo>
                    <a:pt x="2104499" y="0"/>
                    <a:pt x="2110851" y="2631"/>
                    <a:pt x="2115535" y="7315"/>
                  </a:cubicBezTo>
                  <a:cubicBezTo>
                    <a:pt x="2120218" y="11998"/>
                    <a:pt x="2122849" y="18350"/>
                    <a:pt x="2122849" y="24973"/>
                  </a:cubicBezTo>
                  <a:lnTo>
                    <a:pt x="2122849" y="116948"/>
                  </a:lnTo>
                  <a:cubicBezTo>
                    <a:pt x="2122849" y="123571"/>
                    <a:pt x="2120218" y="129923"/>
                    <a:pt x="2115535" y="134606"/>
                  </a:cubicBezTo>
                  <a:cubicBezTo>
                    <a:pt x="2110851" y="139290"/>
                    <a:pt x="2104499" y="141921"/>
                    <a:pt x="2097876" y="141921"/>
                  </a:cubicBezTo>
                  <a:lnTo>
                    <a:pt x="24973" y="141921"/>
                  </a:lnTo>
                  <a:cubicBezTo>
                    <a:pt x="18350" y="141921"/>
                    <a:pt x="11998" y="139290"/>
                    <a:pt x="7315" y="134606"/>
                  </a:cubicBezTo>
                  <a:cubicBezTo>
                    <a:pt x="2631" y="129923"/>
                    <a:pt x="0" y="123571"/>
                    <a:pt x="0" y="116948"/>
                  </a:cubicBezTo>
                  <a:lnTo>
                    <a:pt x="0" y="24973"/>
                  </a:lnTo>
                  <a:cubicBezTo>
                    <a:pt x="0" y="18350"/>
                    <a:pt x="2631" y="11998"/>
                    <a:pt x="7315" y="7315"/>
                  </a:cubicBezTo>
                  <a:cubicBezTo>
                    <a:pt x="11998" y="2631"/>
                    <a:pt x="18350" y="0"/>
                    <a:pt x="24973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0" y="-57150"/>
              <a:ext cx="2122849" cy="199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827774" y="7449154"/>
            <a:ext cx="592260" cy="525449"/>
            <a:chOff x="0" y="0"/>
            <a:chExt cx="1316929" cy="1168368"/>
          </a:xfrm>
        </p:grpSpPr>
        <p:sp>
          <p:nvSpPr>
            <p:cNvPr id="91" name="Freeform 91"/>
            <p:cNvSpPr/>
            <p:nvPr/>
          </p:nvSpPr>
          <p:spPr>
            <a:xfrm>
              <a:off x="27002" y="0"/>
              <a:ext cx="1262924" cy="1168368"/>
            </a:xfrm>
            <a:custGeom>
              <a:avLst/>
              <a:gdLst/>
              <a:ahLst/>
              <a:cxnLst/>
              <a:rect l="l" t="t" r="r" b="b"/>
              <a:pathLst>
                <a:path w="1262924" h="1168368">
                  <a:moveTo>
                    <a:pt x="346132" y="0"/>
                  </a:moveTo>
                  <a:lnTo>
                    <a:pt x="1119993" y="0"/>
                  </a:lnTo>
                  <a:cubicBezTo>
                    <a:pt x="1162184" y="0"/>
                    <a:pt x="1202219" y="18640"/>
                    <a:pt x="1229377" y="50928"/>
                  </a:cubicBezTo>
                  <a:cubicBezTo>
                    <a:pt x="1256534" y="83217"/>
                    <a:pt x="1268039" y="125854"/>
                    <a:pt x="1260810" y="167420"/>
                  </a:cubicBezTo>
                  <a:lnTo>
                    <a:pt x="1115844" y="1000948"/>
                  </a:lnTo>
                  <a:cubicBezTo>
                    <a:pt x="1099014" y="1097722"/>
                    <a:pt x="1015020" y="1168368"/>
                    <a:pt x="916793" y="1168368"/>
                  </a:cubicBezTo>
                  <a:lnTo>
                    <a:pt x="142932" y="1168368"/>
                  </a:lnTo>
                  <a:cubicBezTo>
                    <a:pt x="100741" y="1168368"/>
                    <a:pt x="60706" y="1149728"/>
                    <a:pt x="33548" y="1117440"/>
                  </a:cubicBezTo>
                  <a:cubicBezTo>
                    <a:pt x="6391" y="1085152"/>
                    <a:pt x="-5114" y="1042515"/>
                    <a:pt x="2115" y="1000948"/>
                  </a:cubicBezTo>
                  <a:lnTo>
                    <a:pt x="147081" y="167420"/>
                  </a:lnTo>
                  <a:cubicBezTo>
                    <a:pt x="163911" y="70647"/>
                    <a:pt x="247905" y="0"/>
                    <a:pt x="346132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827774" y="2414964"/>
            <a:ext cx="6629038" cy="682140"/>
            <a:chOff x="0" y="0"/>
            <a:chExt cx="6788021" cy="6985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788021" cy="698500"/>
            </a:xfrm>
            <a:custGeom>
              <a:avLst/>
              <a:gdLst/>
              <a:ahLst/>
              <a:cxnLst/>
              <a:rect l="l" t="t" r="r" b="b"/>
              <a:pathLst>
                <a:path w="6788021" h="698500">
                  <a:moveTo>
                    <a:pt x="6788021" y="349250"/>
                  </a:moveTo>
                  <a:lnTo>
                    <a:pt x="658482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584821" y="0"/>
                  </a:lnTo>
                  <a:lnTo>
                    <a:pt x="6788021" y="349250"/>
                  </a:ln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114300" y="-57150"/>
              <a:ext cx="6559421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5140997" y="2194679"/>
            <a:ext cx="981563" cy="981563"/>
            <a:chOff x="0" y="0"/>
            <a:chExt cx="812800" cy="812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FE7F2D"/>
              </a:solidFill>
              <a:prstDash val="solid"/>
              <a:miter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28700" y="2346631"/>
            <a:ext cx="6585490" cy="677659"/>
            <a:chOff x="0" y="0"/>
            <a:chExt cx="6788021" cy="6985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788021" cy="698500"/>
            </a:xfrm>
            <a:custGeom>
              <a:avLst/>
              <a:gdLst/>
              <a:ahLst/>
              <a:cxnLst/>
              <a:rect l="l" t="t" r="r" b="b"/>
              <a:pathLst>
                <a:path w="6788021" h="698500">
                  <a:moveTo>
                    <a:pt x="6788021" y="349250"/>
                  </a:moveTo>
                  <a:lnTo>
                    <a:pt x="658482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584821" y="0"/>
                  </a:lnTo>
                  <a:lnTo>
                    <a:pt x="6788021" y="34925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114300" y="-57150"/>
              <a:ext cx="6559421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307019" y="2127793"/>
            <a:ext cx="975114" cy="975114"/>
            <a:chOff x="0" y="0"/>
            <a:chExt cx="812800" cy="8128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122359"/>
              </a:solidFill>
              <a:prstDash val="solid"/>
              <a:miter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05" name="Freeform 105"/>
          <p:cNvSpPr/>
          <p:nvPr/>
        </p:nvSpPr>
        <p:spPr>
          <a:xfrm>
            <a:off x="6305675" y="2376861"/>
            <a:ext cx="721017" cy="450635"/>
          </a:xfrm>
          <a:custGeom>
            <a:avLst/>
            <a:gdLst/>
            <a:ahLst/>
            <a:cxnLst/>
            <a:rect l="l" t="t" r="r" b="b"/>
            <a:pathLst>
              <a:path w="721017" h="450635">
                <a:moveTo>
                  <a:pt x="0" y="0"/>
                </a:moveTo>
                <a:lnTo>
                  <a:pt x="721017" y="0"/>
                </a:lnTo>
                <a:lnTo>
                  <a:pt x="721017" y="450635"/>
                </a:lnTo>
                <a:lnTo>
                  <a:pt x="0" y="450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6" name="Freeform 106"/>
          <p:cNvSpPr/>
          <p:nvPr/>
        </p:nvSpPr>
        <p:spPr>
          <a:xfrm>
            <a:off x="15364571" y="2372963"/>
            <a:ext cx="534416" cy="543935"/>
          </a:xfrm>
          <a:custGeom>
            <a:avLst/>
            <a:gdLst/>
            <a:ahLst/>
            <a:cxnLst/>
            <a:rect l="l" t="t" r="r" b="b"/>
            <a:pathLst>
              <a:path w="534416" h="543935">
                <a:moveTo>
                  <a:pt x="0" y="0"/>
                </a:moveTo>
                <a:lnTo>
                  <a:pt x="534416" y="0"/>
                </a:lnTo>
                <a:lnTo>
                  <a:pt x="534416" y="543935"/>
                </a:lnTo>
                <a:lnTo>
                  <a:pt x="0" y="543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7" name="TextBox 107"/>
          <p:cNvSpPr txBox="1"/>
          <p:nvPr/>
        </p:nvSpPr>
        <p:spPr>
          <a:xfrm>
            <a:off x="2718640" y="240313"/>
            <a:ext cx="14128708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</a:t>
            </a:r>
            <a:r>
              <a:rPr lang="en-US" sz="4800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Two-Stage Training &amp; Reward Design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360720" y="969293"/>
            <a:ext cx="6934108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Cold-Start SFT → Agentic GRPO Reinforcement Learning 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593819" y="3631858"/>
            <a:ext cx="7369206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456K samples from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BioMedParseData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(3.4M images,9 modalities)  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620960" y="4578353"/>
            <a:ext cx="7251578" cy="730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Gemini-2.5-Pro was used to write diverse question-answer pairs for each image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1620960" y="5636550"/>
            <a:ext cx="7041674" cy="73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GPT-5 wrote the reasoning behind every click , from the model's limited view, not the oracle's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1684307" y="6720400"/>
            <a:ext cx="7188231" cy="627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Self-reflective trajectories: self-correction + user-inconsistency </a:t>
            </a:r>
          </a:p>
          <a:p>
            <a:pPr algn="l">
              <a:lnSpc>
                <a:spcPts val="2457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684307" y="7837903"/>
            <a:ext cx="704167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trajectory length: 8.69 steps, Avg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IoU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94.27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420034" y="3646590"/>
            <a:ext cx="704167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888K VQA samples — pixel-level + general medical reasoning  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420034" y="4547020"/>
            <a:ext cx="7467932" cy="73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rewards working together: output format, mask quality, click placement, step progress, trajectory length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10449793" y="5698329"/>
            <a:ext cx="743817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Sclick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penalizes +clicks outside FN and −clicks outside FP regions 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0486709" y="6707099"/>
            <a:ext cx="704167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Spseg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𝟙(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ΔIoUt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0): rewards monotonic mask improvement 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0486709" y="7727909"/>
            <a:ext cx="704167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Slen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linear penalty for steps exceeding optimal threshold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Topt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066867" y="2441900"/>
            <a:ext cx="5398714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2: AGENTIC RL(GRPO)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267793" y="2364402"/>
            <a:ext cx="5363248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1: COLD-START SFT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7397706" y="9809727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530570" y="9809727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4343400" y="9809727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60948"/>
            <a:ext cx="3109802" cy="1532039"/>
            <a:chOff x="0" y="0"/>
            <a:chExt cx="395698" cy="1949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698" cy="194940"/>
            </a:xfrm>
            <a:custGeom>
              <a:avLst/>
              <a:gdLst/>
              <a:ahLst/>
              <a:cxnLst/>
              <a:rect l="l" t="t" r="r" b="b"/>
              <a:pathLst>
                <a:path w="395698" h="194940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55107"/>
                  </a:lnTo>
                  <a:cubicBezTo>
                    <a:pt x="395698" y="165672"/>
                    <a:pt x="391501" y="175803"/>
                    <a:pt x="384031" y="183273"/>
                  </a:cubicBezTo>
                  <a:cubicBezTo>
                    <a:pt x="376561" y="190743"/>
                    <a:pt x="366429" y="194940"/>
                    <a:pt x="355865" y="194940"/>
                  </a:cubicBezTo>
                  <a:lnTo>
                    <a:pt x="39832" y="194940"/>
                  </a:lnTo>
                  <a:cubicBezTo>
                    <a:pt x="29268" y="194940"/>
                    <a:pt x="19137" y="190743"/>
                    <a:pt x="11667" y="183273"/>
                  </a:cubicBezTo>
                  <a:cubicBezTo>
                    <a:pt x="4197" y="175803"/>
                    <a:pt x="0" y="165672"/>
                    <a:pt x="0" y="155107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95698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04396" y="1760948"/>
            <a:ext cx="3109802" cy="1532039"/>
            <a:chOff x="0" y="0"/>
            <a:chExt cx="395698" cy="194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5698" cy="194940"/>
            </a:xfrm>
            <a:custGeom>
              <a:avLst/>
              <a:gdLst/>
              <a:ahLst/>
              <a:cxnLst/>
              <a:rect l="l" t="t" r="r" b="b"/>
              <a:pathLst>
                <a:path w="395698" h="194940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55107"/>
                  </a:lnTo>
                  <a:cubicBezTo>
                    <a:pt x="395698" y="165672"/>
                    <a:pt x="391501" y="175803"/>
                    <a:pt x="384031" y="183273"/>
                  </a:cubicBezTo>
                  <a:cubicBezTo>
                    <a:pt x="376561" y="190743"/>
                    <a:pt x="366429" y="194940"/>
                    <a:pt x="355865" y="194940"/>
                  </a:cubicBezTo>
                  <a:lnTo>
                    <a:pt x="39832" y="194940"/>
                  </a:lnTo>
                  <a:cubicBezTo>
                    <a:pt x="29268" y="194940"/>
                    <a:pt x="19137" y="190743"/>
                    <a:pt x="11667" y="183273"/>
                  </a:cubicBezTo>
                  <a:cubicBezTo>
                    <a:pt x="4197" y="175803"/>
                    <a:pt x="0" y="165672"/>
                    <a:pt x="0" y="155107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95698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80092" y="1760948"/>
            <a:ext cx="3109802" cy="1532039"/>
            <a:chOff x="0" y="0"/>
            <a:chExt cx="395698" cy="1949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5698" cy="194940"/>
            </a:xfrm>
            <a:custGeom>
              <a:avLst/>
              <a:gdLst/>
              <a:ahLst/>
              <a:cxnLst/>
              <a:rect l="l" t="t" r="r" b="b"/>
              <a:pathLst>
                <a:path w="395698" h="194940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55107"/>
                  </a:lnTo>
                  <a:cubicBezTo>
                    <a:pt x="395698" y="165672"/>
                    <a:pt x="391501" y="175803"/>
                    <a:pt x="384031" y="183273"/>
                  </a:cubicBezTo>
                  <a:cubicBezTo>
                    <a:pt x="376561" y="190743"/>
                    <a:pt x="366429" y="194940"/>
                    <a:pt x="355865" y="194940"/>
                  </a:cubicBezTo>
                  <a:lnTo>
                    <a:pt x="39832" y="194940"/>
                  </a:lnTo>
                  <a:cubicBezTo>
                    <a:pt x="29268" y="194940"/>
                    <a:pt x="19137" y="190743"/>
                    <a:pt x="11667" y="183273"/>
                  </a:cubicBezTo>
                  <a:cubicBezTo>
                    <a:pt x="4197" y="175803"/>
                    <a:pt x="0" y="165672"/>
                    <a:pt x="0" y="155107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95698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55788" y="1760948"/>
            <a:ext cx="3109802" cy="1532039"/>
            <a:chOff x="0" y="0"/>
            <a:chExt cx="395698" cy="1949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5698" cy="194940"/>
            </a:xfrm>
            <a:custGeom>
              <a:avLst/>
              <a:gdLst/>
              <a:ahLst/>
              <a:cxnLst/>
              <a:rect l="l" t="t" r="r" b="b"/>
              <a:pathLst>
                <a:path w="395698" h="194940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55107"/>
                  </a:lnTo>
                  <a:cubicBezTo>
                    <a:pt x="395698" y="165672"/>
                    <a:pt x="391501" y="175803"/>
                    <a:pt x="384031" y="183273"/>
                  </a:cubicBezTo>
                  <a:cubicBezTo>
                    <a:pt x="376561" y="190743"/>
                    <a:pt x="366429" y="194940"/>
                    <a:pt x="355865" y="194940"/>
                  </a:cubicBezTo>
                  <a:lnTo>
                    <a:pt x="39832" y="194940"/>
                  </a:lnTo>
                  <a:cubicBezTo>
                    <a:pt x="29268" y="194940"/>
                    <a:pt x="19137" y="190743"/>
                    <a:pt x="11667" y="183273"/>
                  </a:cubicBezTo>
                  <a:cubicBezTo>
                    <a:pt x="4197" y="175803"/>
                    <a:pt x="0" y="165672"/>
                    <a:pt x="0" y="155107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95698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4441273"/>
          <a:ext cx="7881030" cy="3049356"/>
        </p:xfrm>
        <a:graphic>
          <a:graphicData uri="http://schemas.openxmlformats.org/drawingml/2006/table">
            <a:tbl>
              <a:tblPr/>
              <a:tblGrid>
                <a:gridCol w="262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33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33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BFD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IBISAgent (Ours)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BFD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85.58%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BFD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80.63%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33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UniBiomed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50.74%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24.88%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33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Citrus-V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30.61%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46.54%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028700" y="7333727"/>
          <a:ext cx="7881030" cy="1505402"/>
        </p:xfrm>
        <a:graphic>
          <a:graphicData uri="http://schemas.openxmlformats.org/drawingml/2006/table">
            <a:tbl>
              <a:tblPr/>
              <a:tblGrid>
                <a:gridCol w="262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701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MMedAgent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36.13%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26.54%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701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MedPLIB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22.29%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33.36%</a:t>
                      </a:r>
                      <a:endParaRPr lang="en-US" sz="1100"/>
                    </a:p>
                  </a:txBody>
                  <a:tcPr marL="144572" marR="144572" marT="144572" marB="144572" anchor="ctr">
                    <a:lnL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3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Freeform 16"/>
          <p:cNvSpPr/>
          <p:nvPr/>
        </p:nvSpPr>
        <p:spPr>
          <a:xfrm>
            <a:off x="9480551" y="3796682"/>
            <a:ext cx="7405306" cy="4952298"/>
          </a:xfrm>
          <a:custGeom>
            <a:avLst/>
            <a:gdLst/>
            <a:ahLst/>
            <a:cxnLst/>
            <a:rect l="l" t="t" r="r" b="b"/>
            <a:pathLst>
              <a:path w="7405306" h="4952298">
                <a:moveTo>
                  <a:pt x="0" y="0"/>
                </a:moveTo>
                <a:lnTo>
                  <a:pt x="7405306" y="0"/>
                </a:lnTo>
                <a:lnTo>
                  <a:pt x="7405306" y="4952299"/>
                </a:lnTo>
                <a:lnTo>
                  <a:pt x="0" y="495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275424" y="162437"/>
            <a:ext cx="10820503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</a:t>
            </a:r>
            <a:r>
              <a:rPr lang="en-US" sz="4800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Experimental Results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1364492"/>
            <a:ext cx="80200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In-domain · Out-of-domain · Held-out benchmarks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9853" y="1793098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85.58%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6218" y="2384220"/>
            <a:ext cx="249565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In-</a:t>
            </a:r>
            <a:r>
              <a:rPr lang="en-US" sz="2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</a:t>
            </a:r>
            <a:r>
              <a:rPr lang="en-US" sz="2199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IoU</a:t>
            </a:r>
            <a:endParaRPr lang="en-US" sz="2199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61789" y="2834021"/>
            <a:ext cx="280272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50.74% (</a:t>
            </a:r>
            <a:r>
              <a:rPr lang="en-US" sz="1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UniBiomed</a:t>
            </a: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58043" y="1874950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80.63%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79474" y="2400730"/>
            <a:ext cx="363025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OOD </a:t>
            </a:r>
            <a:r>
              <a:rPr lang="en-US" sz="20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IoU</a:t>
            </a:r>
            <a:r>
              <a:rPr lang="en-US" sz="2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</a:t>
            </a:r>
            <a:r>
              <a:rPr lang="en-US" sz="20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MeCOVQA</a:t>
            </a:r>
            <a:r>
              <a:rPr lang="en-US" sz="2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-G+)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93238" y="2777505"/>
            <a:ext cx="280272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46.54% (Citrus-V)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51142" y="1793098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72.09%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80647" y="2325068"/>
            <a:ext cx="249565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Held-out </a:t>
            </a:r>
            <a:r>
              <a:rPr lang="en-US" sz="21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IoU</a:t>
            </a:r>
            <a:endParaRPr lang="en-US" sz="210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803078" y="2777505"/>
            <a:ext cx="280272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cancer types, 3 centers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77390" y="1793098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+35pt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93417" y="2384220"/>
            <a:ext cx="293863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Avg. </a:t>
            </a:r>
            <a:r>
              <a:rPr lang="en-US" sz="21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IoU</a:t>
            </a:r>
            <a:r>
              <a:rPr lang="en-US" sz="21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improvement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72606" y="2834021"/>
            <a:ext cx="3021681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next-best medical MLLM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3816202"/>
            <a:ext cx="811530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</a:t>
            </a:r>
            <a:r>
              <a:rPr lang="en-US" sz="2799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Experimental Results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4561966"/>
            <a:ext cx="261250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62963" y="4561966"/>
            <a:ext cx="261250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In-Domain IoU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97225" y="4561966"/>
            <a:ext cx="261250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OOD IoU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49364" y="8813484"/>
            <a:ext cx="5950864" cy="32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3: Qualitative Comparison — Hepatic Tumor Case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467557" y="9794730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0421" y="9794730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13251" y="9794730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2871" y="4528878"/>
            <a:ext cx="7621529" cy="764859"/>
            <a:chOff x="0" y="0"/>
            <a:chExt cx="5386286" cy="5405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6286" cy="540541"/>
            </a:xfrm>
            <a:custGeom>
              <a:avLst/>
              <a:gdLst/>
              <a:ahLst/>
              <a:cxnLst/>
              <a:rect l="l" t="t" r="r" b="b"/>
              <a:pathLst>
                <a:path w="5386286" h="540541">
                  <a:moveTo>
                    <a:pt x="0" y="0"/>
                  </a:moveTo>
                  <a:lnTo>
                    <a:pt x="5386286" y="0"/>
                  </a:lnTo>
                  <a:lnTo>
                    <a:pt x="5386286" y="540541"/>
                  </a:lnTo>
                  <a:lnTo>
                    <a:pt x="0" y="540541"/>
                  </a:lnTo>
                  <a:close/>
                </a:path>
              </a:pathLst>
            </a:custGeom>
            <a:solidFill>
              <a:srgbClr val="FCFDF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386286" cy="607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6839" y="5627112"/>
            <a:ext cx="7637562" cy="822593"/>
            <a:chOff x="0" y="0"/>
            <a:chExt cx="5397617" cy="5813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7617" cy="581343"/>
            </a:xfrm>
            <a:custGeom>
              <a:avLst/>
              <a:gdLst/>
              <a:ahLst/>
              <a:cxnLst/>
              <a:rect l="l" t="t" r="r" b="b"/>
              <a:pathLst>
                <a:path w="5397617" h="581343">
                  <a:moveTo>
                    <a:pt x="0" y="0"/>
                  </a:moveTo>
                  <a:lnTo>
                    <a:pt x="5397617" y="0"/>
                  </a:lnTo>
                  <a:lnTo>
                    <a:pt x="5397617" y="581343"/>
                  </a:lnTo>
                  <a:lnTo>
                    <a:pt x="0" y="581343"/>
                  </a:lnTo>
                  <a:close/>
                </a:path>
              </a:pathLst>
            </a:custGeom>
            <a:solidFill>
              <a:srgbClr val="FCFDF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397617" cy="648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2871" y="6782496"/>
            <a:ext cx="7621529" cy="814705"/>
            <a:chOff x="0" y="0"/>
            <a:chExt cx="5386286" cy="5757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86286" cy="575768"/>
            </a:xfrm>
            <a:custGeom>
              <a:avLst/>
              <a:gdLst/>
              <a:ahLst/>
              <a:cxnLst/>
              <a:rect l="l" t="t" r="r" b="b"/>
              <a:pathLst>
                <a:path w="5386286" h="575768">
                  <a:moveTo>
                    <a:pt x="0" y="0"/>
                  </a:moveTo>
                  <a:lnTo>
                    <a:pt x="5386286" y="0"/>
                  </a:lnTo>
                  <a:lnTo>
                    <a:pt x="5386286" y="575768"/>
                  </a:lnTo>
                  <a:lnTo>
                    <a:pt x="0" y="575768"/>
                  </a:lnTo>
                  <a:close/>
                </a:path>
              </a:pathLst>
            </a:custGeom>
            <a:solidFill>
              <a:srgbClr val="FCFDF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5386286" cy="642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2871" y="7937880"/>
            <a:ext cx="7621529" cy="822593"/>
            <a:chOff x="0" y="0"/>
            <a:chExt cx="5386286" cy="5813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86286" cy="581343"/>
            </a:xfrm>
            <a:custGeom>
              <a:avLst/>
              <a:gdLst/>
              <a:ahLst/>
              <a:cxnLst/>
              <a:rect l="l" t="t" r="r" b="b"/>
              <a:pathLst>
                <a:path w="5386286" h="581343">
                  <a:moveTo>
                    <a:pt x="0" y="0"/>
                  </a:moveTo>
                  <a:lnTo>
                    <a:pt x="5386286" y="0"/>
                  </a:lnTo>
                  <a:lnTo>
                    <a:pt x="5386286" y="581343"/>
                  </a:lnTo>
                  <a:lnTo>
                    <a:pt x="0" y="581343"/>
                  </a:lnTo>
                  <a:close/>
                </a:path>
              </a:pathLst>
            </a:custGeom>
            <a:solidFill>
              <a:srgbClr val="FCFDF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386286" cy="648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524189" y="4387040"/>
            <a:ext cx="9571789" cy="3302267"/>
          </a:xfrm>
          <a:custGeom>
            <a:avLst/>
            <a:gdLst/>
            <a:ahLst/>
            <a:cxnLst/>
            <a:rect l="l" t="t" r="r" b="b"/>
            <a:pathLst>
              <a:path w="9571789" h="3302267">
                <a:moveTo>
                  <a:pt x="0" y="0"/>
                </a:moveTo>
                <a:lnTo>
                  <a:pt x="9571789" y="0"/>
                </a:lnTo>
                <a:lnTo>
                  <a:pt x="9571789" y="3302267"/>
                </a:lnTo>
                <a:lnTo>
                  <a:pt x="0" y="3302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079553" y="1041618"/>
            <a:ext cx="7389292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 et al., 2026 · Virginia Tech · UT Southwestern · Georgia Tech · Cisco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46265" y="359628"/>
            <a:ext cx="1531085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800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MedVistaGym</a:t>
            </a:r>
            <a:r>
              <a:rPr lang="en-US" sz="48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Scalable Agentic Training Environment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1984" y="4521931"/>
            <a:ext cx="449121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1104" y="4617181"/>
            <a:ext cx="4838666" cy="36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Resolution &amp; Refinement 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6839" y="1759422"/>
            <a:ext cx="978506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3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training playground where the model learns to pick and use medical tools</a:t>
            </a:r>
            <a:endParaRPr lang="en-US" sz="2799" b="1" dirty="0">
              <a:solidFill>
                <a:srgbClr val="041F6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506200" y="7843811"/>
            <a:ext cx="4684861" cy="32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4: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MedVistaGym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Environment Overview 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21506" y="9780088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4370" y="9780088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67200" y="9780088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4"/>
              <p:cNvSpPr txBox="1"/>
              <p:nvPr/>
            </p:nvSpPr>
            <p:spPr>
              <a:xfrm>
                <a:off x="516839" y="2661165"/>
                <a:ext cx="10134600" cy="53860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124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each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agent 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hinks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selects an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receives an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environment. This repeats until a final answer is produced. </a:t>
                </a:r>
                <a:r>
                  <a:rPr lang="pl-P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Trajectory: U = (g0, a0, ..., gT, ŷ)</a:t>
                </a:r>
                <a:endParaRPr lang="en-US" sz="1800" dirty="0">
                  <a:solidFill>
                    <a:srgbClr val="667198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</p:txBody>
          </p:sp>
        </mc:Choice>
        <mc:Fallback xmlns="">
          <p:sp>
            <p:nvSpPr>
              <p:cNvPr id="24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39" y="2661165"/>
                <a:ext cx="10134600" cy="538609"/>
              </a:xfrm>
              <a:prstGeom prst="rect">
                <a:avLst/>
              </a:prstGeom>
              <a:blipFill>
                <a:blip r:embed="rId3"/>
                <a:stretch>
                  <a:fillRect l="-1444" t="-15909" b="-26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5"/>
          <p:cNvSpPr txBox="1"/>
          <p:nvPr/>
        </p:nvSpPr>
        <p:spPr>
          <a:xfrm>
            <a:off x="516839" y="3912856"/>
            <a:ext cx="9785065" cy="43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 Tools in 4 Families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6173" y="4906866"/>
            <a:ext cx="696329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4KAgent: super-res (2×–16×), dehazing, denoising, brightening 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84" y="5634447"/>
            <a:ext cx="449121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1104" y="5729697"/>
            <a:ext cx="4838666" cy="36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Localization &amp; Segmentation 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4800" y="6034710"/>
            <a:ext cx="592197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GroundingDINO</a:t>
            </a:r>
            <a:r>
              <a:rPr lang="en-US" sz="20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SAM2 · </a:t>
            </a:r>
            <a:r>
              <a:rPr lang="en-US" sz="2000" dirty="0" err="1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BioMedParse</a:t>
            </a:r>
            <a:r>
              <a:rPr lang="en-US" sz="20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MedSAM2 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1984" y="6802130"/>
            <a:ext cx="449121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1104" y="6891246"/>
            <a:ext cx="4838666" cy="36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Understanding &amp; Parsing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6173" y="7188422"/>
            <a:ext cx="685285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BiomedCLIP</a:t>
            </a:r>
            <a:r>
              <a:rPr lang="en-US" sz="20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zero-shot classification across label types 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1984" y="7929560"/>
            <a:ext cx="449121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1104" y="8038742"/>
            <a:ext cx="4838666" cy="36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Knowledge Retrieval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04799" y="8343632"/>
            <a:ext cx="592197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GoogleSearch</a:t>
            </a:r>
            <a:r>
              <a:rPr lang="en-US" sz="20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</a:t>
            </a:r>
            <a:r>
              <a:rPr lang="en-US" sz="2000" dirty="0" err="1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DrugBank</a:t>
            </a:r>
            <a:r>
              <a:rPr lang="en-US" sz="20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PubMed · </a:t>
            </a:r>
            <a:r>
              <a:rPr lang="en-US" sz="2000" dirty="0" err="1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LongDocRAG</a:t>
            </a:r>
            <a:endParaRPr lang="en-US" sz="20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999" y="2673613"/>
            <a:ext cx="7829934" cy="530333"/>
            <a:chOff x="0" y="0"/>
            <a:chExt cx="2136129" cy="144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6129" cy="144683"/>
            </a:xfrm>
            <a:custGeom>
              <a:avLst/>
              <a:gdLst/>
              <a:ahLst/>
              <a:cxnLst/>
              <a:rect l="l" t="t" r="r" b="b"/>
              <a:pathLst>
                <a:path w="2136129" h="144683">
                  <a:moveTo>
                    <a:pt x="25708" y="0"/>
                  </a:moveTo>
                  <a:lnTo>
                    <a:pt x="2110421" y="0"/>
                  </a:lnTo>
                  <a:cubicBezTo>
                    <a:pt x="2117240" y="0"/>
                    <a:pt x="2123778" y="2708"/>
                    <a:pt x="2128600" y="7530"/>
                  </a:cubicBezTo>
                  <a:cubicBezTo>
                    <a:pt x="2133421" y="12351"/>
                    <a:pt x="2136129" y="18890"/>
                    <a:pt x="2136129" y="25708"/>
                  </a:cubicBezTo>
                  <a:lnTo>
                    <a:pt x="2136129" y="118975"/>
                  </a:lnTo>
                  <a:cubicBezTo>
                    <a:pt x="2136129" y="125794"/>
                    <a:pt x="2133421" y="132332"/>
                    <a:pt x="2128600" y="137154"/>
                  </a:cubicBezTo>
                  <a:cubicBezTo>
                    <a:pt x="2123778" y="141975"/>
                    <a:pt x="2117240" y="144683"/>
                    <a:pt x="2110421" y="144683"/>
                  </a:cubicBezTo>
                  <a:lnTo>
                    <a:pt x="25708" y="144683"/>
                  </a:lnTo>
                  <a:cubicBezTo>
                    <a:pt x="18890" y="144683"/>
                    <a:pt x="12351" y="141975"/>
                    <a:pt x="7530" y="137154"/>
                  </a:cubicBezTo>
                  <a:cubicBezTo>
                    <a:pt x="2708" y="132332"/>
                    <a:pt x="0" y="125794"/>
                    <a:pt x="0" y="118975"/>
                  </a:cubicBezTo>
                  <a:lnTo>
                    <a:pt x="0" y="25708"/>
                  </a:lnTo>
                  <a:cubicBezTo>
                    <a:pt x="0" y="18890"/>
                    <a:pt x="2708" y="12351"/>
                    <a:pt x="7530" y="7530"/>
                  </a:cubicBezTo>
                  <a:cubicBezTo>
                    <a:pt x="12351" y="2708"/>
                    <a:pt x="18890" y="0"/>
                    <a:pt x="25708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36129" cy="201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0233" y="2673613"/>
            <a:ext cx="571764" cy="507265"/>
            <a:chOff x="0" y="0"/>
            <a:chExt cx="1316929" cy="1168368"/>
          </a:xfrm>
        </p:grpSpPr>
        <p:sp>
          <p:nvSpPr>
            <p:cNvPr id="6" name="Freeform 6"/>
            <p:cNvSpPr/>
            <p:nvPr/>
          </p:nvSpPr>
          <p:spPr>
            <a:xfrm>
              <a:off x="27970" y="0"/>
              <a:ext cx="1260988" cy="1168368"/>
            </a:xfrm>
            <a:custGeom>
              <a:avLst/>
              <a:gdLst/>
              <a:ahLst/>
              <a:cxnLst/>
              <a:rect l="l" t="t" r="r" b="b"/>
              <a:pathLst>
                <a:path w="1260988" h="1168368">
                  <a:moveTo>
                    <a:pt x="351255" y="0"/>
                  </a:moveTo>
                  <a:lnTo>
                    <a:pt x="1112934" y="0"/>
                  </a:lnTo>
                  <a:cubicBezTo>
                    <a:pt x="1156637" y="0"/>
                    <a:pt x="1198107" y="19308"/>
                    <a:pt x="1226238" y="52754"/>
                  </a:cubicBezTo>
                  <a:cubicBezTo>
                    <a:pt x="1254369" y="86200"/>
                    <a:pt x="1266286" y="130365"/>
                    <a:pt x="1258798" y="173422"/>
                  </a:cubicBezTo>
                  <a:lnTo>
                    <a:pt x="1115920" y="994946"/>
                  </a:lnTo>
                  <a:cubicBezTo>
                    <a:pt x="1098486" y="1095189"/>
                    <a:pt x="1011481" y="1168368"/>
                    <a:pt x="909734" y="1168368"/>
                  </a:cubicBezTo>
                  <a:lnTo>
                    <a:pt x="148055" y="1168368"/>
                  </a:lnTo>
                  <a:cubicBezTo>
                    <a:pt x="104352" y="1168368"/>
                    <a:pt x="62882" y="1149060"/>
                    <a:pt x="34751" y="1115614"/>
                  </a:cubicBezTo>
                  <a:cubicBezTo>
                    <a:pt x="6620" y="1082169"/>
                    <a:pt x="-5297" y="1038003"/>
                    <a:pt x="2191" y="994946"/>
                  </a:cubicBezTo>
                  <a:lnTo>
                    <a:pt x="145069" y="173422"/>
                  </a:lnTo>
                  <a:cubicBezTo>
                    <a:pt x="162503" y="73179"/>
                    <a:pt x="249508" y="0"/>
                    <a:pt x="351255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8863932" y="1978614"/>
            <a:ext cx="0" cy="7279686"/>
          </a:xfrm>
          <a:prstGeom prst="line">
            <a:avLst/>
          </a:prstGeom>
          <a:ln w="38100" cap="flat">
            <a:solidFill>
              <a:srgbClr val="2A2B39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743765" y="3371377"/>
            <a:ext cx="7818168" cy="545365"/>
            <a:chOff x="0" y="0"/>
            <a:chExt cx="2132919" cy="1487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32919" cy="148784"/>
            </a:xfrm>
            <a:custGeom>
              <a:avLst/>
              <a:gdLst/>
              <a:ahLst/>
              <a:cxnLst/>
              <a:rect l="l" t="t" r="r" b="b"/>
              <a:pathLst>
                <a:path w="2132919" h="148784">
                  <a:moveTo>
                    <a:pt x="25746" y="0"/>
                  </a:moveTo>
                  <a:lnTo>
                    <a:pt x="2107173" y="0"/>
                  </a:lnTo>
                  <a:cubicBezTo>
                    <a:pt x="2114001" y="0"/>
                    <a:pt x="2120550" y="2713"/>
                    <a:pt x="2125378" y="7541"/>
                  </a:cubicBezTo>
                  <a:cubicBezTo>
                    <a:pt x="2130206" y="12369"/>
                    <a:pt x="2132919" y="18918"/>
                    <a:pt x="2132919" y="25746"/>
                  </a:cubicBezTo>
                  <a:lnTo>
                    <a:pt x="2132919" y="123038"/>
                  </a:lnTo>
                  <a:cubicBezTo>
                    <a:pt x="2132919" y="137257"/>
                    <a:pt x="2121392" y="148784"/>
                    <a:pt x="2107173" y="148784"/>
                  </a:cubicBezTo>
                  <a:lnTo>
                    <a:pt x="25746" y="148784"/>
                  </a:lnTo>
                  <a:cubicBezTo>
                    <a:pt x="11527" y="148784"/>
                    <a:pt x="0" y="137257"/>
                    <a:pt x="0" y="123038"/>
                  </a:cubicBezTo>
                  <a:lnTo>
                    <a:pt x="0" y="25746"/>
                  </a:lnTo>
                  <a:cubicBezTo>
                    <a:pt x="0" y="11527"/>
                    <a:pt x="11527" y="0"/>
                    <a:pt x="25746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32919" cy="20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3765" y="3371377"/>
            <a:ext cx="571764" cy="507265"/>
            <a:chOff x="0" y="0"/>
            <a:chExt cx="1316929" cy="1168368"/>
          </a:xfrm>
        </p:grpSpPr>
        <p:sp>
          <p:nvSpPr>
            <p:cNvPr id="13" name="Freeform 13"/>
            <p:cNvSpPr/>
            <p:nvPr/>
          </p:nvSpPr>
          <p:spPr>
            <a:xfrm>
              <a:off x="27970" y="0"/>
              <a:ext cx="1260988" cy="1168368"/>
            </a:xfrm>
            <a:custGeom>
              <a:avLst/>
              <a:gdLst/>
              <a:ahLst/>
              <a:cxnLst/>
              <a:rect l="l" t="t" r="r" b="b"/>
              <a:pathLst>
                <a:path w="1260988" h="1168368">
                  <a:moveTo>
                    <a:pt x="351255" y="0"/>
                  </a:moveTo>
                  <a:lnTo>
                    <a:pt x="1112934" y="0"/>
                  </a:lnTo>
                  <a:cubicBezTo>
                    <a:pt x="1156637" y="0"/>
                    <a:pt x="1198107" y="19308"/>
                    <a:pt x="1226238" y="52754"/>
                  </a:cubicBezTo>
                  <a:cubicBezTo>
                    <a:pt x="1254369" y="86200"/>
                    <a:pt x="1266286" y="130365"/>
                    <a:pt x="1258798" y="173422"/>
                  </a:cubicBezTo>
                  <a:lnTo>
                    <a:pt x="1115920" y="994946"/>
                  </a:lnTo>
                  <a:cubicBezTo>
                    <a:pt x="1098486" y="1095189"/>
                    <a:pt x="1011481" y="1168368"/>
                    <a:pt x="909734" y="1168368"/>
                  </a:cubicBezTo>
                  <a:lnTo>
                    <a:pt x="148055" y="1168368"/>
                  </a:lnTo>
                  <a:cubicBezTo>
                    <a:pt x="104352" y="1168368"/>
                    <a:pt x="62882" y="1149060"/>
                    <a:pt x="34751" y="1115614"/>
                  </a:cubicBezTo>
                  <a:cubicBezTo>
                    <a:pt x="6620" y="1082169"/>
                    <a:pt x="-5297" y="1038003"/>
                    <a:pt x="2191" y="994946"/>
                  </a:cubicBezTo>
                  <a:lnTo>
                    <a:pt x="145069" y="173422"/>
                  </a:lnTo>
                  <a:cubicBezTo>
                    <a:pt x="162503" y="73179"/>
                    <a:pt x="249508" y="0"/>
                    <a:pt x="351255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6116" y="4050092"/>
            <a:ext cx="7835817" cy="527510"/>
            <a:chOff x="0" y="0"/>
            <a:chExt cx="2137734" cy="1439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7734" cy="143913"/>
            </a:xfrm>
            <a:custGeom>
              <a:avLst/>
              <a:gdLst/>
              <a:ahLst/>
              <a:cxnLst/>
              <a:rect l="l" t="t" r="r" b="b"/>
              <a:pathLst>
                <a:path w="2137734" h="143913">
                  <a:moveTo>
                    <a:pt x="25688" y="0"/>
                  </a:moveTo>
                  <a:lnTo>
                    <a:pt x="2112046" y="0"/>
                  </a:lnTo>
                  <a:cubicBezTo>
                    <a:pt x="2118859" y="0"/>
                    <a:pt x="2125393" y="2706"/>
                    <a:pt x="2130210" y="7524"/>
                  </a:cubicBezTo>
                  <a:cubicBezTo>
                    <a:pt x="2135028" y="12341"/>
                    <a:pt x="2137734" y="18875"/>
                    <a:pt x="2137734" y="25688"/>
                  </a:cubicBezTo>
                  <a:lnTo>
                    <a:pt x="2137734" y="118225"/>
                  </a:lnTo>
                  <a:cubicBezTo>
                    <a:pt x="2137734" y="132412"/>
                    <a:pt x="2126233" y="143913"/>
                    <a:pt x="2112046" y="143913"/>
                  </a:cubicBezTo>
                  <a:lnTo>
                    <a:pt x="25688" y="143913"/>
                  </a:lnTo>
                  <a:cubicBezTo>
                    <a:pt x="11501" y="143913"/>
                    <a:pt x="0" y="132412"/>
                    <a:pt x="0" y="118225"/>
                  </a:cubicBezTo>
                  <a:lnTo>
                    <a:pt x="0" y="25688"/>
                  </a:lnTo>
                  <a:cubicBezTo>
                    <a:pt x="0" y="11501"/>
                    <a:pt x="11501" y="0"/>
                    <a:pt x="25688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137734" cy="201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6116" y="4050092"/>
            <a:ext cx="571764" cy="507265"/>
            <a:chOff x="0" y="0"/>
            <a:chExt cx="1316929" cy="1168368"/>
          </a:xfrm>
        </p:grpSpPr>
        <p:sp>
          <p:nvSpPr>
            <p:cNvPr id="19" name="Freeform 19"/>
            <p:cNvSpPr/>
            <p:nvPr/>
          </p:nvSpPr>
          <p:spPr>
            <a:xfrm>
              <a:off x="27970" y="0"/>
              <a:ext cx="1260988" cy="1168368"/>
            </a:xfrm>
            <a:custGeom>
              <a:avLst/>
              <a:gdLst/>
              <a:ahLst/>
              <a:cxnLst/>
              <a:rect l="l" t="t" r="r" b="b"/>
              <a:pathLst>
                <a:path w="1260988" h="1168368">
                  <a:moveTo>
                    <a:pt x="351255" y="0"/>
                  </a:moveTo>
                  <a:lnTo>
                    <a:pt x="1112934" y="0"/>
                  </a:lnTo>
                  <a:cubicBezTo>
                    <a:pt x="1156637" y="0"/>
                    <a:pt x="1198107" y="19308"/>
                    <a:pt x="1226238" y="52754"/>
                  </a:cubicBezTo>
                  <a:cubicBezTo>
                    <a:pt x="1254369" y="86200"/>
                    <a:pt x="1266286" y="130365"/>
                    <a:pt x="1258798" y="173422"/>
                  </a:cubicBezTo>
                  <a:lnTo>
                    <a:pt x="1115920" y="994946"/>
                  </a:lnTo>
                  <a:cubicBezTo>
                    <a:pt x="1098486" y="1095189"/>
                    <a:pt x="1011481" y="1168368"/>
                    <a:pt x="909734" y="1168368"/>
                  </a:cubicBezTo>
                  <a:lnTo>
                    <a:pt x="148055" y="1168368"/>
                  </a:lnTo>
                  <a:cubicBezTo>
                    <a:pt x="104352" y="1168368"/>
                    <a:pt x="62882" y="1149060"/>
                    <a:pt x="34751" y="1115614"/>
                  </a:cubicBezTo>
                  <a:cubicBezTo>
                    <a:pt x="6620" y="1082169"/>
                    <a:pt x="-5297" y="1038003"/>
                    <a:pt x="2191" y="994946"/>
                  </a:cubicBezTo>
                  <a:lnTo>
                    <a:pt x="145069" y="173422"/>
                  </a:lnTo>
                  <a:cubicBezTo>
                    <a:pt x="162503" y="73179"/>
                    <a:pt x="249508" y="0"/>
                    <a:pt x="351255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0233" y="1801948"/>
            <a:ext cx="6699231" cy="689363"/>
            <a:chOff x="0" y="0"/>
            <a:chExt cx="6788021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88021" cy="698500"/>
            </a:xfrm>
            <a:custGeom>
              <a:avLst/>
              <a:gdLst/>
              <a:ahLst/>
              <a:cxnLst/>
              <a:rect l="l" t="t" r="r" b="b"/>
              <a:pathLst>
                <a:path w="6788021" h="698500">
                  <a:moveTo>
                    <a:pt x="6788021" y="349250"/>
                  </a:moveTo>
                  <a:lnTo>
                    <a:pt x="658482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584821" y="0"/>
                  </a:lnTo>
                  <a:lnTo>
                    <a:pt x="6788021" y="34925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14300" y="-57150"/>
              <a:ext cx="6559421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89716" y="1579331"/>
            <a:ext cx="991956" cy="99195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122359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6088349" y="1832700"/>
            <a:ext cx="733470" cy="458419"/>
          </a:xfrm>
          <a:custGeom>
            <a:avLst/>
            <a:gdLst/>
            <a:ahLst/>
            <a:cxnLst/>
            <a:rect l="l" t="t" r="r" b="b"/>
            <a:pathLst>
              <a:path w="733470" h="458419">
                <a:moveTo>
                  <a:pt x="0" y="0"/>
                </a:moveTo>
                <a:lnTo>
                  <a:pt x="733470" y="0"/>
                </a:lnTo>
                <a:lnTo>
                  <a:pt x="733470" y="458419"/>
                </a:lnTo>
                <a:lnTo>
                  <a:pt x="0" y="458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9054432" y="1978614"/>
            <a:ext cx="1904206" cy="1185346"/>
            <a:chOff x="0" y="0"/>
            <a:chExt cx="425606" cy="26493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5606" cy="264935"/>
            </a:xfrm>
            <a:custGeom>
              <a:avLst/>
              <a:gdLst/>
              <a:ahLst/>
              <a:cxnLst/>
              <a:rect l="l" t="t" r="r" b="b"/>
              <a:pathLst>
                <a:path w="425606" h="264935">
                  <a:moveTo>
                    <a:pt x="4066" y="0"/>
                  </a:moveTo>
                  <a:lnTo>
                    <a:pt x="421540" y="0"/>
                  </a:lnTo>
                  <a:cubicBezTo>
                    <a:pt x="422618" y="0"/>
                    <a:pt x="423652" y="428"/>
                    <a:pt x="424415" y="1191"/>
                  </a:cubicBezTo>
                  <a:cubicBezTo>
                    <a:pt x="425177" y="1953"/>
                    <a:pt x="425606" y="2987"/>
                    <a:pt x="425606" y="4066"/>
                  </a:cubicBezTo>
                  <a:lnTo>
                    <a:pt x="425606" y="260869"/>
                  </a:lnTo>
                  <a:cubicBezTo>
                    <a:pt x="425606" y="261947"/>
                    <a:pt x="425177" y="262981"/>
                    <a:pt x="424415" y="263744"/>
                  </a:cubicBezTo>
                  <a:cubicBezTo>
                    <a:pt x="423652" y="264506"/>
                    <a:pt x="422618" y="264935"/>
                    <a:pt x="421540" y="264935"/>
                  </a:cubicBezTo>
                  <a:lnTo>
                    <a:pt x="4066" y="264935"/>
                  </a:lnTo>
                  <a:cubicBezTo>
                    <a:pt x="2987" y="264935"/>
                    <a:pt x="1953" y="264506"/>
                    <a:pt x="1191" y="263744"/>
                  </a:cubicBezTo>
                  <a:cubicBezTo>
                    <a:pt x="428" y="262981"/>
                    <a:pt x="0" y="261947"/>
                    <a:pt x="0" y="260869"/>
                  </a:cubicBezTo>
                  <a:lnTo>
                    <a:pt x="0" y="4066"/>
                  </a:lnTo>
                  <a:cubicBezTo>
                    <a:pt x="0" y="2987"/>
                    <a:pt x="428" y="1953"/>
                    <a:pt x="1191" y="1191"/>
                  </a:cubicBezTo>
                  <a:cubicBezTo>
                    <a:pt x="1953" y="428"/>
                    <a:pt x="2987" y="0"/>
                    <a:pt x="4066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425606" cy="322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1999" y="4749052"/>
            <a:ext cx="7841700" cy="767071"/>
            <a:chOff x="0" y="0"/>
            <a:chExt cx="2139339" cy="1507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39339" cy="150704"/>
            </a:xfrm>
            <a:custGeom>
              <a:avLst/>
              <a:gdLst/>
              <a:ahLst/>
              <a:cxnLst/>
              <a:rect l="l" t="t" r="r" b="b"/>
              <a:pathLst>
                <a:path w="2139339" h="150704">
                  <a:moveTo>
                    <a:pt x="25669" y="0"/>
                  </a:moveTo>
                  <a:lnTo>
                    <a:pt x="2113670" y="0"/>
                  </a:lnTo>
                  <a:cubicBezTo>
                    <a:pt x="2120478" y="0"/>
                    <a:pt x="2127007" y="2704"/>
                    <a:pt x="2131821" y="7518"/>
                  </a:cubicBezTo>
                  <a:cubicBezTo>
                    <a:pt x="2136635" y="12332"/>
                    <a:pt x="2139339" y="18861"/>
                    <a:pt x="2139339" y="25669"/>
                  </a:cubicBezTo>
                  <a:lnTo>
                    <a:pt x="2139339" y="125034"/>
                  </a:lnTo>
                  <a:cubicBezTo>
                    <a:pt x="2139339" y="131842"/>
                    <a:pt x="2136635" y="138371"/>
                    <a:pt x="2131821" y="143185"/>
                  </a:cubicBezTo>
                  <a:cubicBezTo>
                    <a:pt x="2127007" y="147999"/>
                    <a:pt x="2120478" y="150704"/>
                    <a:pt x="2113670" y="150704"/>
                  </a:cubicBezTo>
                  <a:lnTo>
                    <a:pt x="25669" y="150704"/>
                  </a:lnTo>
                  <a:cubicBezTo>
                    <a:pt x="18861" y="150704"/>
                    <a:pt x="12332" y="147999"/>
                    <a:pt x="7518" y="143185"/>
                  </a:cubicBezTo>
                  <a:cubicBezTo>
                    <a:pt x="2704" y="138371"/>
                    <a:pt x="0" y="131842"/>
                    <a:pt x="0" y="125034"/>
                  </a:cubicBezTo>
                  <a:lnTo>
                    <a:pt x="0" y="25669"/>
                  </a:lnTo>
                  <a:cubicBezTo>
                    <a:pt x="0" y="18861"/>
                    <a:pt x="2704" y="12332"/>
                    <a:pt x="7518" y="7518"/>
                  </a:cubicBezTo>
                  <a:cubicBezTo>
                    <a:pt x="12332" y="2704"/>
                    <a:pt x="18861" y="0"/>
                    <a:pt x="2566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2139339" cy="207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31999" y="4749052"/>
            <a:ext cx="571764" cy="507265"/>
            <a:chOff x="0" y="0"/>
            <a:chExt cx="1316929" cy="1168368"/>
          </a:xfrm>
        </p:grpSpPr>
        <p:sp>
          <p:nvSpPr>
            <p:cNvPr id="35" name="Freeform 35"/>
            <p:cNvSpPr/>
            <p:nvPr/>
          </p:nvSpPr>
          <p:spPr>
            <a:xfrm>
              <a:off x="27970" y="0"/>
              <a:ext cx="1260988" cy="1168368"/>
            </a:xfrm>
            <a:custGeom>
              <a:avLst/>
              <a:gdLst/>
              <a:ahLst/>
              <a:cxnLst/>
              <a:rect l="l" t="t" r="r" b="b"/>
              <a:pathLst>
                <a:path w="1260988" h="1168368">
                  <a:moveTo>
                    <a:pt x="351255" y="0"/>
                  </a:moveTo>
                  <a:lnTo>
                    <a:pt x="1112934" y="0"/>
                  </a:lnTo>
                  <a:cubicBezTo>
                    <a:pt x="1156637" y="0"/>
                    <a:pt x="1198107" y="19308"/>
                    <a:pt x="1226238" y="52754"/>
                  </a:cubicBezTo>
                  <a:cubicBezTo>
                    <a:pt x="1254369" y="86200"/>
                    <a:pt x="1266286" y="130365"/>
                    <a:pt x="1258798" y="173422"/>
                  </a:cubicBezTo>
                  <a:lnTo>
                    <a:pt x="1115920" y="994946"/>
                  </a:lnTo>
                  <a:cubicBezTo>
                    <a:pt x="1098486" y="1095189"/>
                    <a:pt x="1011481" y="1168368"/>
                    <a:pt x="909734" y="1168368"/>
                  </a:cubicBezTo>
                  <a:lnTo>
                    <a:pt x="148055" y="1168368"/>
                  </a:lnTo>
                  <a:cubicBezTo>
                    <a:pt x="104352" y="1168368"/>
                    <a:pt x="62882" y="1149060"/>
                    <a:pt x="34751" y="1115614"/>
                  </a:cubicBezTo>
                  <a:cubicBezTo>
                    <a:pt x="6620" y="1082169"/>
                    <a:pt x="-5297" y="1038003"/>
                    <a:pt x="2191" y="994946"/>
                  </a:cubicBezTo>
                  <a:lnTo>
                    <a:pt x="145069" y="173422"/>
                  </a:lnTo>
                  <a:cubicBezTo>
                    <a:pt x="162503" y="73179"/>
                    <a:pt x="249508" y="0"/>
                    <a:pt x="351255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8644" y="6489949"/>
            <a:ext cx="7805055" cy="503916"/>
            <a:chOff x="0" y="0"/>
            <a:chExt cx="2051100" cy="13242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790" y="0"/>
                  </a:moveTo>
                  <a:lnTo>
                    <a:pt x="2025310" y="0"/>
                  </a:lnTo>
                  <a:cubicBezTo>
                    <a:pt x="2039553" y="0"/>
                    <a:pt x="2051100" y="11546"/>
                    <a:pt x="2051100" y="25790"/>
                  </a:cubicBezTo>
                  <a:lnTo>
                    <a:pt x="2051100" y="106635"/>
                  </a:lnTo>
                  <a:cubicBezTo>
                    <a:pt x="2051100" y="120878"/>
                    <a:pt x="2039553" y="132425"/>
                    <a:pt x="2025310" y="132425"/>
                  </a:cubicBezTo>
                  <a:lnTo>
                    <a:pt x="25790" y="132425"/>
                  </a:lnTo>
                  <a:cubicBezTo>
                    <a:pt x="11546" y="132425"/>
                    <a:pt x="0" y="120878"/>
                    <a:pt x="0" y="106635"/>
                  </a:cubicBezTo>
                  <a:lnTo>
                    <a:pt x="0" y="25790"/>
                  </a:lnTo>
                  <a:cubicBezTo>
                    <a:pt x="0" y="11546"/>
                    <a:pt x="11546" y="0"/>
                    <a:pt x="25790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6429" y="6489949"/>
            <a:ext cx="593575" cy="526615"/>
            <a:chOff x="0" y="0"/>
            <a:chExt cx="1316929" cy="1168368"/>
          </a:xfrm>
        </p:grpSpPr>
        <p:sp>
          <p:nvSpPr>
            <p:cNvPr id="41" name="Freeform 41"/>
            <p:cNvSpPr/>
            <p:nvPr/>
          </p:nvSpPr>
          <p:spPr>
            <a:xfrm>
              <a:off x="26943" y="0"/>
              <a:ext cx="1263044" cy="1168368"/>
            </a:xfrm>
            <a:custGeom>
              <a:avLst/>
              <a:gdLst/>
              <a:ahLst/>
              <a:cxnLst/>
              <a:rect l="l" t="t" r="r" b="b"/>
              <a:pathLst>
                <a:path w="1263044" h="1168368">
                  <a:moveTo>
                    <a:pt x="345814" y="0"/>
                  </a:moveTo>
                  <a:lnTo>
                    <a:pt x="1120429" y="0"/>
                  </a:lnTo>
                  <a:cubicBezTo>
                    <a:pt x="1162526" y="0"/>
                    <a:pt x="1202472" y="18599"/>
                    <a:pt x="1229570" y="50816"/>
                  </a:cubicBezTo>
                  <a:cubicBezTo>
                    <a:pt x="1256667" y="83032"/>
                    <a:pt x="1268146" y="125575"/>
                    <a:pt x="1260933" y="167050"/>
                  </a:cubicBezTo>
                  <a:lnTo>
                    <a:pt x="1115839" y="1001319"/>
                  </a:lnTo>
                  <a:cubicBezTo>
                    <a:pt x="1099045" y="1097878"/>
                    <a:pt x="1015238" y="1168368"/>
                    <a:pt x="917229" y="1168368"/>
                  </a:cubicBezTo>
                  <a:lnTo>
                    <a:pt x="142614" y="1168368"/>
                  </a:lnTo>
                  <a:cubicBezTo>
                    <a:pt x="100517" y="1168368"/>
                    <a:pt x="60570" y="1149769"/>
                    <a:pt x="33473" y="1117553"/>
                  </a:cubicBezTo>
                  <a:cubicBezTo>
                    <a:pt x="6376" y="1085336"/>
                    <a:pt x="-5103" y="1042793"/>
                    <a:pt x="2110" y="1001319"/>
                  </a:cubicBezTo>
                  <a:lnTo>
                    <a:pt x="147204" y="167050"/>
                  </a:lnTo>
                  <a:cubicBezTo>
                    <a:pt x="163998" y="70490"/>
                    <a:pt x="247805" y="0"/>
                    <a:pt x="345814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6878" y="7149914"/>
            <a:ext cx="7805055" cy="503916"/>
            <a:chOff x="0" y="0"/>
            <a:chExt cx="2051100" cy="13242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790" y="0"/>
                  </a:moveTo>
                  <a:lnTo>
                    <a:pt x="2025310" y="0"/>
                  </a:lnTo>
                  <a:cubicBezTo>
                    <a:pt x="2039553" y="0"/>
                    <a:pt x="2051100" y="11546"/>
                    <a:pt x="2051100" y="25790"/>
                  </a:cubicBezTo>
                  <a:lnTo>
                    <a:pt x="2051100" y="106635"/>
                  </a:lnTo>
                  <a:cubicBezTo>
                    <a:pt x="2051100" y="120878"/>
                    <a:pt x="2039553" y="132425"/>
                    <a:pt x="2025310" y="132425"/>
                  </a:cubicBezTo>
                  <a:lnTo>
                    <a:pt x="25790" y="132425"/>
                  </a:lnTo>
                  <a:cubicBezTo>
                    <a:pt x="11546" y="132425"/>
                    <a:pt x="0" y="120878"/>
                    <a:pt x="0" y="106635"/>
                  </a:cubicBezTo>
                  <a:lnTo>
                    <a:pt x="0" y="25790"/>
                  </a:lnTo>
                  <a:cubicBezTo>
                    <a:pt x="0" y="11546"/>
                    <a:pt x="11546" y="0"/>
                    <a:pt x="25790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6878" y="7149914"/>
            <a:ext cx="593575" cy="526615"/>
            <a:chOff x="0" y="0"/>
            <a:chExt cx="1316929" cy="1168368"/>
          </a:xfrm>
        </p:grpSpPr>
        <p:sp>
          <p:nvSpPr>
            <p:cNvPr id="47" name="Freeform 47"/>
            <p:cNvSpPr/>
            <p:nvPr/>
          </p:nvSpPr>
          <p:spPr>
            <a:xfrm>
              <a:off x="26943" y="0"/>
              <a:ext cx="1263044" cy="1168368"/>
            </a:xfrm>
            <a:custGeom>
              <a:avLst/>
              <a:gdLst/>
              <a:ahLst/>
              <a:cxnLst/>
              <a:rect l="l" t="t" r="r" b="b"/>
              <a:pathLst>
                <a:path w="1263044" h="1168368">
                  <a:moveTo>
                    <a:pt x="345814" y="0"/>
                  </a:moveTo>
                  <a:lnTo>
                    <a:pt x="1120429" y="0"/>
                  </a:lnTo>
                  <a:cubicBezTo>
                    <a:pt x="1162526" y="0"/>
                    <a:pt x="1202472" y="18599"/>
                    <a:pt x="1229570" y="50816"/>
                  </a:cubicBezTo>
                  <a:cubicBezTo>
                    <a:pt x="1256667" y="83032"/>
                    <a:pt x="1268146" y="125575"/>
                    <a:pt x="1260933" y="167050"/>
                  </a:cubicBezTo>
                  <a:lnTo>
                    <a:pt x="1115839" y="1001319"/>
                  </a:lnTo>
                  <a:cubicBezTo>
                    <a:pt x="1099045" y="1097878"/>
                    <a:pt x="1015238" y="1168368"/>
                    <a:pt x="917229" y="1168368"/>
                  </a:cubicBezTo>
                  <a:lnTo>
                    <a:pt x="142614" y="1168368"/>
                  </a:lnTo>
                  <a:cubicBezTo>
                    <a:pt x="100517" y="1168368"/>
                    <a:pt x="60570" y="1149769"/>
                    <a:pt x="33473" y="1117553"/>
                  </a:cubicBezTo>
                  <a:cubicBezTo>
                    <a:pt x="6376" y="1085336"/>
                    <a:pt x="-5103" y="1042793"/>
                    <a:pt x="2110" y="1001319"/>
                  </a:cubicBezTo>
                  <a:lnTo>
                    <a:pt x="147204" y="167050"/>
                  </a:lnTo>
                  <a:cubicBezTo>
                    <a:pt x="163998" y="70490"/>
                    <a:pt x="247805" y="0"/>
                    <a:pt x="345814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6429" y="7809879"/>
            <a:ext cx="7805055" cy="503916"/>
            <a:chOff x="0" y="0"/>
            <a:chExt cx="2051100" cy="1324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790" y="0"/>
                  </a:moveTo>
                  <a:lnTo>
                    <a:pt x="2025310" y="0"/>
                  </a:lnTo>
                  <a:cubicBezTo>
                    <a:pt x="2039553" y="0"/>
                    <a:pt x="2051100" y="11546"/>
                    <a:pt x="2051100" y="25790"/>
                  </a:cubicBezTo>
                  <a:lnTo>
                    <a:pt x="2051100" y="106635"/>
                  </a:lnTo>
                  <a:cubicBezTo>
                    <a:pt x="2051100" y="120878"/>
                    <a:pt x="2039553" y="132425"/>
                    <a:pt x="2025310" y="132425"/>
                  </a:cubicBezTo>
                  <a:lnTo>
                    <a:pt x="25790" y="132425"/>
                  </a:lnTo>
                  <a:cubicBezTo>
                    <a:pt x="11546" y="132425"/>
                    <a:pt x="0" y="120878"/>
                    <a:pt x="0" y="106635"/>
                  </a:cubicBezTo>
                  <a:lnTo>
                    <a:pt x="0" y="25790"/>
                  </a:lnTo>
                  <a:cubicBezTo>
                    <a:pt x="0" y="11546"/>
                    <a:pt x="11546" y="0"/>
                    <a:pt x="25790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6429" y="7809879"/>
            <a:ext cx="593575" cy="526615"/>
            <a:chOff x="0" y="0"/>
            <a:chExt cx="1316929" cy="1168368"/>
          </a:xfrm>
        </p:grpSpPr>
        <p:sp>
          <p:nvSpPr>
            <p:cNvPr id="53" name="Freeform 53"/>
            <p:cNvSpPr/>
            <p:nvPr/>
          </p:nvSpPr>
          <p:spPr>
            <a:xfrm>
              <a:off x="26943" y="0"/>
              <a:ext cx="1263044" cy="1168368"/>
            </a:xfrm>
            <a:custGeom>
              <a:avLst/>
              <a:gdLst/>
              <a:ahLst/>
              <a:cxnLst/>
              <a:rect l="l" t="t" r="r" b="b"/>
              <a:pathLst>
                <a:path w="1263044" h="1168368">
                  <a:moveTo>
                    <a:pt x="345814" y="0"/>
                  </a:moveTo>
                  <a:lnTo>
                    <a:pt x="1120429" y="0"/>
                  </a:lnTo>
                  <a:cubicBezTo>
                    <a:pt x="1162526" y="0"/>
                    <a:pt x="1202472" y="18599"/>
                    <a:pt x="1229570" y="50816"/>
                  </a:cubicBezTo>
                  <a:cubicBezTo>
                    <a:pt x="1256667" y="83032"/>
                    <a:pt x="1268146" y="125575"/>
                    <a:pt x="1260933" y="167050"/>
                  </a:cubicBezTo>
                  <a:lnTo>
                    <a:pt x="1115839" y="1001319"/>
                  </a:lnTo>
                  <a:cubicBezTo>
                    <a:pt x="1099045" y="1097878"/>
                    <a:pt x="1015238" y="1168368"/>
                    <a:pt x="917229" y="1168368"/>
                  </a:cubicBezTo>
                  <a:lnTo>
                    <a:pt x="142614" y="1168368"/>
                  </a:lnTo>
                  <a:cubicBezTo>
                    <a:pt x="100517" y="1168368"/>
                    <a:pt x="60570" y="1149769"/>
                    <a:pt x="33473" y="1117553"/>
                  </a:cubicBezTo>
                  <a:cubicBezTo>
                    <a:pt x="6376" y="1085336"/>
                    <a:pt x="-5103" y="1042793"/>
                    <a:pt x="2110" y="1001319"/>
                  </a:cubicBezTo>
                  <a:lnTo>
                    <a:pt x="147204" y="167050"/>
                  </a:lnTo>
                  <a:cubicBezTo>
                    <a:pt x="163998" y="70490"/>
                    <a:pt x="247805" y="0"/>
                    <a:pt x="345814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3765" y="5685213"/>
            <a:ext cx="6675698" cy="686942"/>
            <a:chOff x="0" y="0"/>
            <a:chExt cx="6788021" cy="6985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788021" cy="698500"/>
            </a:xfrm>
            <a:custGeom>
              <a:avLst/>
              <a:gdLst/>
              <a:ahLst/>
              <a:cxnLst/>
              <a:rect l="l" t="t" r="r" b="b"/>
              <a:pathLst>
                <a:path w="6788021" h="698500">
                  <a:moveTo>
                    <a:pt x="6788021" y="349250"/>
                  </a:moveTo>
                  <a:lnTo>
                    <a:pt x="658482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584821" y="0"/>
                  </a:lnTo>
                  <a:lnTo>
                    <a:pt x="6788021" y="349250"/>
                  </a:ln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114300" y="-57150"/>
              <a:ext cx="6559421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4387" y="5463377"/>
            <a:ext cx="988472" cy="988472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FE7F2D"/>
              </a:solidFill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021757" y="5782833"/>
            <a:ext cx="5436714" cy="41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sz="232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2: AGENTIC RL (GRPO)</a:t>
            </a:r>
          </a:p>
        </p:txBody>
      </p:sp>
      <p:sp>
        <p:nvSpPr>
          <p:cNvPr id="62" name="Freeform 62"/>
          <p:cNvSpPr/>
          <p:nvPr/>
        </p:nvSpPr>
        <p:spPr>
          <a:xfrm>
            <a:off x="6330412" y="5692917"/>
            <a:ext cx="516422" cy="525621"/>
          </a:xfrm>
          <a:custGeom>
            <a:avLst/>
            <a:gdLst/>
            <a:ahLst/>
            <a:cxnLst/>
            <a:rect l="l" t="t" r="r" b="b"/>
            <a:pathLst>
              <a:path w="516422" h="525621">
                <a:moveTo>
                  <a:pt x="0" y="0"/>
                </a:moveTo>
                <a:lnTo>
                  <a:pt x="516422" y="0"/>
                </a:lnTo>
                <a:lnTo>
                  <a:pt x="516422" y="525620"/>
                </a:lnTo>
                <a:lnTo>
                  <a:pt x="0" y="525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3" name="Group 63"/>
          <p:cNvGrpSpPr/>
          <p:nvPr/>
        </p:nvGrpSpPr>
        <p:grpSpPr>
          <a:xfrm>
            <a:off x="768644" y="8469843"/>
            <a:ext cx="7805055" cy="503916"/>
            <a:chOff x="0" y="0"/>
            <a:chExt cx="2051100" cy="13242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051100" cy="132425"/>
            </a:xfrm>
            <a:custGeom>
              <a:avLst/>
              <a:gdLst/>
              <a:ahLst/>
              <a:cxnLst/>
              <a:rect l="l" t="t" r="r" b="b"/>
              <a:pathLst>
                <a:path w="2051100" h="132425">
                  <a:moveTo>
                    <a:pt x="25790" y="0"/>
                  </a:moveTo>
                  <a:lnTo>
                    <a:pt x="2025310" y="0"/>
                  </a:lnTo>
                  <a:cubicBezTo>
                    <a:pt x="2039553" y="0"/>
                    <a:pt x="2051100" y="11546"/>
                    <a:pt x="2051100" y="25790"/>
                  </a:cubicBezTo>
                  <a:lnTo>
                    <a:pt x="2051100" y="106635"/>
                  </a:lnTo>
                  <a:cubicBezTo>
                    <a:pt x="2051100" y="120878"/>
                    <a:pt x="2039553" y="132425"/>
                    <a:pt x="2025310" y="132425"/>
                  </a:cubicBezTo>
                  <a:lnTo>
                    <a:pt x="25790" y="132425"/>
                  </a:lnTo>
                  <a:cubicBezTo>
                    <a:pt x="11546" y="132425"/>
                    <a:pt x="0" y="120878"/>
                    <a:pt x="0" y="106635"/>
                  </a:cubicBezTo>
                  <a:lnTo>
                    <a:pt x="0" y="25790"/>
                  </a:lnTo>
                  <a:cubicBezTo>
                    <a:pt x="0" y="11546"/>
                    <a:pt x="11546" y="0"/>
                    <a:pt x="25790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57150"/>
              <a:ext cx="2051100" cy="18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8644" y="8469843"/>
            <a:ext cx="593575" cy="526615"/>
            <a:chOff x="0" y="0"/>
            <a:chExt cx="1316929" cy="1168368"/>
          </a:xfrm>
        </p:grpSpPr>
        <p:sp>
          <p:nvSpPr>
            <p:cNvPr id="67" name="Freeform 67"/>
            <p:cNvSpPr/>
            <p:nvPr/>
          </p:nvSpPr>
          <p:spPr>
            <a:xfrm>
              <a:off x="26943" y="0"/>
              <a:ext cx="1263044" cy="1168368"/>
            </a:xfrm>
            <a:custGeom>
              <a:avLst/>
              <a:gdLst/>
              <a:ahLst/>
              <a:cxnLst/>
              <a:rect l="l" t="t" r="r" b="b"/>
              <a:pathLst>
                <a:path w="1263044" h="1168368">
                  <a:moveTo>
                    <a:pt x="345814" y="0"/>
                  </a:moveTo>
                  <a:lnTo>
                    <a:pt x="1120429" y="0"/>
                  </a:lnTo>
                  <a:cubicBezTo>
                    <a:pt x="1162526" y="0"/>
                    <a:pt x="1202472" y="18599"/>
                    <a:pt x="1229570" y="50816"/>
                  </a:cubicBezTo>
                  <a:cubicBezTo>
                    <a:pt x="1256667" y="83032"/>
                    <a:pt x="1268146" y="125575"/>
                    <a:pt x="1260933" y="167050"/>
                  </a:cubicBezTo>
                  <a:lnTo>
                    <a:pt x="1115839" y="1001319"/>
                  </a:lnTo>
                  <a:cubicBezTo>
                    <a:pt x="1099045" y="1097878"/>
                    <a:pt x="1015238" y="1168368"/>
                    <a:pt x="917229" y="1168368"/>
                  </a:cubicBezTo>
                  <a:lnTo>
                    <a:pt x="142614" y="1168368"/>
                  </a:lnTo>
                  <a:cubicBezTo>
                    <a:pt x="100517" y="1168368"/>
                    <a:pt x="60570" y="1149769"/>
                    <a:pt x="33473" y="1117553"/>
                  </a:cubicBezTo>
                  <a:cubicBezTo>
                    <a:pt x="6376" y="1085336"/>
                    <a:pt x="-5103" y="1042793"/>
                    <a:pt x="2110" y="1001319"/>
                  </a:cubicBezTo>
                  <a:lnTo>
                    <a:pt x="147204" y="167050"/>
                  </a:lnTo>
                  <a:cubicBezTo>
                    <a:pt x="163998" y="70490"/>
                    <a:pt x="247805" y="0"/>
                    <a:pt x="345814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338694" y="1978614"/>
            <a:ext cx="1904206" cy="1185346"/>
            <a:chOff x="0" y="0"/>
            <a:chExt cx="425606" cy="26493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25606" cy="264935"/>
            </a:xfrm>
            <a:custGeom>
              <a:avLst/>
              <a:gdLst/>
              <a:ahLst/>
              <a:cxnLst/>
              <a:rect l="l" t="t" r="r" b="b"/>
              <a:pathLst>
                <a:path w="425606" h="264935">
                  <a:moveTo>
                    <a:pt x="4066" y="0"/>
                  </a:moveTo>
                  <a:lnTo>
                    <a:pt x="421540" y="0"/>
                  </a:lnTo>
                  <a:cubicBezTo>
                    <a:pt x="422618" y="0"/>
                    <a:pt x="423652" y="428"/>
                    <a:pt x="424415" y="1191"/>
                  </a:cubicBezTo>
                  <a:cubicBezTo>
                    <a:pt x="425177" y="1953"/>
                    <a:pt x="425606" y="2987"/>
                    <a:pt x="425606" y="4066"/>
                  </a:cubicBezTo>
                  <a:lnTo>
                    <a:pt x="425606" y="260869"/>
                  </a:lnTo>
                  <a:cubicBezTo>
                    <a:pt x="425606" y="261947"/>
                    <a:pt x="425177" y="262981"/>
                    <a:pt x="424415" y="263744"/>
                  </a:cubicBezTo>
                  <a:cubicBezTo>
                    <a:pt x="423652" y="264506"/>
                    <a:pt x="422618" y="264935"/>
                    <a:pt x="421540" y="264935"/>
                  </a:cubicBezTo>
                  <a:lnTo>
                    <a:pt x="4066" y="264935"/>
                  </a:lnTo>
                  <a:cubicBezTo>
                    <a:pt x="2987" y="264935"/>
                    <a:pt x="1953" y="264506"/>
                    <a:pt x="1191" y="263744"/>
                  </a:cubicBezTo>
                  <a:cubicBezTo>
                    <a:pt x="428" y="262981"/>
                    <a:pt x="0" y="261947"/>
                    <a:pt x="0" y="260869"/>
                  </a:cubicBezTo>
                  <a:lnTo>
                    <a:pt x="0" y="4066"/>
                  </a:lnTo>
                  <a:cubicBezTo>
                    <a:pt x="0" y="2987"/>
                    <a:pt x="428" y="1953"/>
                    <a:pt x="1191" y="1191"/>
                  </a:cubicBezTo>
                  <a:cubicBezTo>
                    <a:pt x="1953" y="428"/>
                    <a:pt x="2987" y="0"/>
                    <a:pt x="4066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425606" cy="322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622957" y="1978614"/>
            <a:ext cx="1904206" cy="1185346"/>
            <a:chOff x="0" y="0"/>
            <a:chExt cx="425606" cy="26493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25606" cy="264935"/>
            </a:xfrm>
            <a:custGeom>
              <a:avLst/>
              <a:gdLst/>
              <a:ahLst/>
              <a:cxnLst/>
              <a:rect l="l" t="t" r="r" b="b"/>
              <a:pathLst>
                <a:path w="425606" h="264935">
                  <a:moveTo>
                    <a:pt x="4066" y="0"/>
                  </a:moveTo>
                  <a:lnTo>
                    <a:pt x="421540" y="0"/>
                  </a:lnTo>
                  <a:cubicBezTo>
                    <a:pt x="422618" y="0"/>
                    <a:pt x="423652" y="428"/>
                    <a:pt x="424415" y="1191"/>
                  </a:cubicBezTo>
                  <a:cubicBezTo>
                    <a:pt x="425177" y="1953"/>
                    <a:pt x="425606" y="2987"/>
                    <a:pt x="425606" y="4066"/>
                  </a:cubicBezTo>
                  <a:lnTo>
                    <a:pt x="425606" y="260869"/>
                  </a:lnTo>
                  <a:cubicBezTo>
                    <a:pt x="425606" y="261947"/>
                    <a:pt x="425177" y="262981"/>
                    <a:pt x="424415" y="263744"/>
                  </a:cubicBezTo>
                  <a:cubicBezTo>
                    <a:pt x="423652" y="264506"/>
                    <a:pt x="422618" y="264935"/>
                    <a:pt x="421540" y="264935"/>
                  </a:cubicBezTo>
                  <a:lnTo>
                    <a:pt x="4066" y="264935"/>
                  </a:lnTo>
                  <a:cubicBezTo>
                    <a:pt x="2987" y="264935"/>
                    <a:pt x="1953" y="264506"/>
                    <a:pt x="1191" y="263744"/>
                  </a:cubicBezTo>
                  <a:cubicBezTo>
                    <a:pt x="428" y="262981"/>
                    <a:pt x="0" y="261947"/>
                    <a:pt x="0" y="260869"/>
                  </a:cubicBezTo>
                  <a:lnTo>
                    <a:pt x="0" y="4066"/>
                  </a:lnTo>
                  <a:cubicBezTo>
                    <a:pt x="0" y="2987"/>
                    <a:pt x="428" y="1953"/>
                    <a:pt x="1191" y="1191"/>
                  </a:cubicBezTo>
                  <a:cubicBezTo>
                    <a:pt x="1953" y="428"/>
                    <a:pt x="2987" y="0"/>
                    <a:pt x="4066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0" y="-57150"/>
              <a:ext cx="425606" cy="322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907219" y="1978614"/>
            <a:ext cx="1904206" cy="1185346"/>
            <a:chOff x="0" y="0"/>
            <a:chExt cx="425606" cy="26493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25606" cy="264935"/>
            </a:xfrm>
            <a:custGeom>
              <a:avLst/>
              <a:gdLst/>
              <a:ahLst/>
              <a:cxnLst/>
              <a:rect l="l" t="t" r="r" b="b"/>
              <a:pathLst>
                <a:path w="425606" h="264935">
                  <a:moveTo>
                    <a:pt x="4066" y="0"/>
                  </a:moveTo>
                  <a:lnTo>
                    <a:pt x="421540" y="0"/>
                  </a:lnTo>
                  <a:cubicBezTo>
                    <a:pt x="422618" y="0"/>
                    <a:pt x="423652" y="428"/>
                    <a:pt x="424415" y="1191"/>
                  </a:cubicBezTo>
                  <a:cubicBezTo>
                    <a:pt x="425177" y="1953"/>
                    <a:pt x="425606" y="2987"/>
                    <a:pt x="425606" y="4066"/>
                  </a:cubicBezTo>
                  <a:lnTo>
                    <a:pt x="425606" y="260869"/>
                  </a:lnTo>
                  <a:cubicBezTo>
                    <a:pt x="425606" y="261947"/>
                    <a:pt x="425177" y="262981"/>
                    <a:pt x="424415" y="263744"/>
                  </a:cubicBezTo>
                  <a:cubicBezTo>
                    <a:pt x="423652" y="264506"/>
                    <a:pt x="422618" y="264935"/>
                    <a:pt x="421540" y="264935"/>
                  </a:cubicBezTo>
                  <a:lnTo>
                    <a:pt x="4066" y="264935"/>
                  </a:lnTo>
                  <a:cubicBezTo>
                    <a:pt x="2987" y="264935"/>
                    <a:pt x="1953" y="264506"/>
                    <a:pt x="1191" y="263744"/>
                  </a:cubicBezTo>
                  <a:cubicBezTo>
                    <a:pt x="428" y="262981"/>
                    <a:pt x="0" y="261947"/>
                    <a:pt x="0" y="260869"/>
                  </a:cubicBezTo>
                  <a:lnTo>
                    <a:pt x="0" y="4066"/>
                  </a:lnTo>
                  <a:cubicBezTo>
                    <a:pt x="0" y="2987"/>
                    <a:pt x="428" y="1953"/>
                    <a:pt x="1191" y="1191"/>
                  </a:cubicBezTo>
                  <a:cubicBezTo>
                    <a:pt x="1953" y="428"/>
                    <a:pt x="2987" y="0"/>
                    <a:pt x="4066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0" y="-57150"/>
              <a:ext cx="425606" cy="322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8" name="Freeform 78"/>
          <p:cNvSpPr/>
          <p:nvPr/>
        </p:nvSpPr>
        <p:spPr>
          <a:xfrm>
            <a:off x="9054432" y="3685497"/>
            <a:ext cx="8756993" cy="5407443"/>
          </a:xfrm>
          <a:custGeom>
            <a:avLst/>
            <a:gdLst/>
            <a:ahLst/>
            <a:cxnLst/>
            <a:rect l="l" t="t" r="r" b="b"/>
            <a:pathLst>
              <a:path w="8756993" h="5407443">
                <a:moveTo>
                  <a:pt x="0" y="0"/>
                </a:moveTo>
                <a:lnTo>
                  <a:pt x="8756993" y="0"/>
                </a:lnTo>
                <a:lnTo>
                  <a:pt x="8756993" y="5407443"/>
                </a:lnTo>
                <a:lnTo>
                  <a:pt x="0" y="5407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9" name="TextBox 79"/>
          <p:cNvSpPr txBox="1"/>
          <p:nvPr/>
        </p:nvSpPr>
        <p:spPr>
          <a:xfrm>
            <a:off x="3096853" y="228096"/>
            <a:ext cx="1294882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MedVista-R1 — Training Framework &amp; Results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543974" y="971550"/>
            <a:ext cx="56086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Two-stage SFT + GRPO · InternVL3-8B backbone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325797" y="2604283"/>
            <a:ext cx="7138085" cy="57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GPT-5 generates candidate trajectories via live tool invocations  </a:t>
            </a:r>
          </a:p>
          <a:p>
            <a:pPr algn="l">
              <a:lnSpc>
                <a:spcPts val="1600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MedVistaGym</a:t>
            </a:r>
            <a:endParaRPr lang="en-US"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325797" y="3432546"/>
            <a:ext cx="7328856" cy="351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final answer was wrong, the trajectory got thrown out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315530" y="4021517"/>
            <a:ext cx="7928930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GPT-5 pass assigns 4-point quality score for trajectory </a:t>
            </a:r>
          </a:p>
          <a:p>
            <a:pPr algn="l">
              <a:lnSpc>
                <a:spcPts val="1680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99204" y="1881064"/>
            <a:ext cx="545587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1: COLD-START SFT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348299" y="2189405"/>
            <a:ext cx="1340497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2400" b="1" dirty="0">
                <a:solidFill>
                  <a:srgbClr val="00BFD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+19–24%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131208" y="2552237"/>
            <a:ext cx="1750654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tool-access</a:t>
            </a:r>
          </a:p>
          <a:p>
            <a:pPr algn="ctr">
              <a:lnSpc>
                <a:spcPts val="2124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w/o RL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7335305" y="9779837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68169" y="9779837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280999" y="9779837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1322290" y="4721219"/>
            <a:ext cx="7335869" cy="730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Teaches the model how tool calls are supposed to look before RL starts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423675" y="6525690"/>
            <a:ext cx="7347537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3-component reward: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Rformat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Racc + </a:t>
            </a:r>
            <a:r>
              <a:rPr lang="en-US" sz="21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Rtool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423675" y="7070065"/>
            <a:ext cx="7334873" cy="73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reward only fires when the tool was actually useful  not just for calling it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1444891" y="7830160"/>
            <a:ext cx="7292441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6 tool calls per query; rollout terminates on repeated actions 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06578" y="8551920"/>
            <a:ext cx="7057304" cy="44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on 8× A100 GPUs with asynchronous tool execution </a:t>
            </a:r>
          </a:p>
          <a:p>
            <a:pPr algn="l">
              <a:lnSpc>
                <a:spcPts val="1680"/>
              </a:lnSpc>
            </a:pP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 Ray 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632561" y="2233746"/>
            <a:ext cx="1340497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2400" b="1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73.70%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1415470" y="2571287"/>
            <a:ext cx="1750654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In-domain avg accuracy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3916824" y="2233746"/>
            <a:ext cx="1340497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24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63.09%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699733" y="2571287"/>
            <a:ext cx="1750654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6-benchmark avg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6201086" y="2233746"/>
            <a:ext cx="1340497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2400" b="1">
                <a:solidFill>
                  <a:srgbClr val="FE7F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2B≈8B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5983995" y="2571287"/>
            <a:ext cx="1750654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efficiency gain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2000892" y="9182100"/>
            <a:ext cx="4486564" cy="34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1: Main Results across 6 Benchmarks 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5076" y="3207898"/>
            <a:ext cx="7385394" cy="1057304"/>
            <a:chOff x="0" y="0"/>
            <a:chExt cx="5219405" cy="747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9405" cy="747218"/>
            </a:xfrm>
            <a:custGeom>
              <a:avLst/>
              <a:gdLst/>
              <a:ahLst/>
              <a:cxnLst/>
              <a:rect l="l" t="t" r="r" b="b"/>
              <a:pathLst>
                <a:path w="5219405" h="747218">
                  <a:moveTo>
                    <a:pt x="29352" y="0"/>
                  </a:moveTo>
                  <a:lnTo>
                    <a:pt x="5190053" y="0"/>
                  </a:lnTo>
                  <a:cubicBezTo>
                    <a:pt x="5206264" y="0"/>
                    <a:pt x="5219405" y="13141"/>
                    <a:pt x="5219405" y="29352"/>
                  </a:cubicBezTo>
                  <a:lnTo>
                    <a:pt x="5219405" y="717866"/>
                  </a:lnTo>
                  <a:cubicBezTo>
                    <a:pt x="5219405" y="734076"/>
                    <a:pt x="5206264" y="747218"/>
                    <a:pt x="5190053" y="747218"/>
                  </a:cubicBezTo>
                  <a:lnTo>
                    <a:pt x="29352" y="747218"/>
                  </a:lnTo>
                  <a:cubicBezTo>
                    <a:pt x="13141" y="747218"/>
                    <a:pt x="0" y="734076"/>
                    <a:pt x="0" y="717866"/>
                  </a:cubicBezTo>
                  <a:lnTo>
                    <a:pt x="0" y="29352"/>
                  </a:lnTo>
                  <a:cubicBezTo>
                    <a:pt x="0" y="13141"/>
                    <a:pt x="13141" y="0"/>
                    <a:pt x="29352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219405" cy="813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5076" y="3076927"/>
            <a:ext cx="8000722" cy="1188275"/>
            <a:chOff x="0" y="0"/>
            <a:chExt cx="5654269" cy="8397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54269" cy="839777"/>
            </a:xfrm>
            <a:custGeom>
              <a:avLst/>
              <a:gdLst/>
              <a:ahLst/>
              <a:cxnLst/>
              <a:rect l="l" t="t" r="r" b="b"/>
              <a:pathLst>
                <a:path w="5654269" h="839777">
                  <a:moveTo>
                    <a:pt x="27094" y="0"/>
                  </a:moveTo>
                  <a:lnTo>
                    <a:pt x="5627175" y="0"/>
                  </a:lnTo>
                  <a:cubicBezTo>
                    <a:pt x="5634361" y="0"/>
                    <a:pt x="5641252" y="2855"/>
                    <a:pt x="5646334" y="7936"/>
                  </a:cubicBezTo>
                  <a:cubicBezTo>
                    <a:pt x="5651415" y="13017"/>
                    <a:pt x="5654269" y="19908"/>
                    <a:pt x="5654269" y="27094"/>
                  </a:cubicBezTo>
                  <a:lnTo>
                    <a:pt x="5654269" y="812683"/>
                  </a:lnTo>
                  <a:cubicBezTo>
                    <a:pt x="5654269" y="827647"/>
                    <a:pt x="5642139" y="839777"/>
                    <a:pt x="5627175" y="839777"/>
                  </a:cubicBezTo>
                  <a:lnTo>
                    <a:pt x="27094" y="839777"/>
                  </a:lnTo>
                  <a:cubicBezTo>
                    <a:pt x="19908" y="839777"/>
                    <a:pt x="13017" y="836923"/>
                    <a:pt x="7936" y="831842"/>
                  </a:cubicBezTo>
                  <a:cubicBezTo>
                    <a:pt x="2855" y="826760"/>
                    <a:pt x="0" y="819869"/>
                    <a:pt x="0" y="812683"/>
                  </a:cubicBezTo>
                  <a:lnTo>
                    <a:pt x="0" y="27094"/>
                  </a:lnTo>
                  <a:cubicBezTo>
                    <a:pt x="0" y="12131"/>
                    <a:pt x="12131" y="0"/>
                    <a:pt x="27094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654269" cy="906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5076" y="4802569"/>
            <a:ext cx="8000722" cy="1157325"/>
            <a:chOff x="0" y="0"/>
            <a:chExt cx="5654269" cy="8179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54269" cy="817904"/>
            </a:xfrm>
            <a:custGeom>
              <a:avLst/>
              <a:gdLst/>
              <a:ahLst/>
              <a:cxnLst/>
              <a:rect l="l" t="t" r="r" b="b"/>
              <a:pathLst>
                <a:path w="5654269" h="817904">
                  <a:moveTo>
                    <a:pt x="27094" y="0"/>
                  </a:moveTo>
                  <a:lnTo>
                    <a:pt x="5627175" y="0"/>
                  </a:lnTo>
                  <a:cubicBezTo>
                    <a:pt x="5634361" y="0"/>
                    <a:pt x="5641252" y="2855"/>
                    <a:pt x="5646334" y="7936"/>
                  </a:cubicBezTo>
                  <a:cubicBezTo>
                    <a:pt x="5651415" y="13017"/>
                    <a:pt x="5654269" y="19908"/>
                    <a:pt x="5654269" y="27094"/>
                  </a:cubicBezTo>
                  <a:lnTo>
                    <a:pt x="5654269" y="790810"/>
                  </a:lnTo>
                  <a:cubicBezTo>
                    <a:pt x="5654269" y="805774"/>
                    <a:pt x="5642139" y="817904"/>
                    <a:pt x="5627175" y="817904"/>
                  </a:cubicBezTo>
                  <a:lnTo>
                    <a:pt x="27094" y="817904"/>
                  </a:lnTo>
                  <a:cubicBezTo>
                    <a:pt x="19908" y="817904"/>
                    <a:pt x="13017" y="815050"/>
                    <a:pt x="7936" y="809969"/>
                  </a:cubicBezTo>
                  <a:cubicBezTo>
                    <a:pt x="2855" y="804887"/>
                    <a:pt x="0" y="797996"/>
                    <a:pt x="0" y="790810"/>
                  </a:cubicBezTo>
                  <a:lnTo>
                    <a:pt x="0" y="27094"/>
                  </a:lnTo>
                  <a:cubicBezTo>
                    <a:pt x="0" y="12131"/>
                    <a:pt x="12131" y="0"/>
                    <a:pt x="27094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5654269" cy="884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5076" y="4716897"/>
            <a:ext cx="8000722" cy="1157325"/>
            <a:chOff x="0" y="0"/>
            <a:chExt cx="5654269" cy="8179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54269" cy="817904"/>
            </a:xfrm>
            <a:custGeom>
              <a:avLst/>
              <a:gdLst/>
              <a:ahLst/>
              <a:cxnLst/>
              <a:rect l="l" t="t" r="r" b="b"/>
              <a:pathLst>
                <a:path w="5654269" h="817904">
                  <a:moveTo>
                    <a:pt x="27094" y="0"/>
                  </a:moveTo>
                  <a:lnTo>
                    <a:pt x="5627175" y="0"/>
                  </a:lnTo>
                  <a:cubicBezTo>
                    <a:pt x="5634361" y="0"/>
                    <a:pt x="5641252" y="2855"/>
                    <a:pt x="5646334" y="7936"/>
                  </a:cubicBezTo>
                  <a:cubicBezTo>
                    <a:pt x="5651415" y="13017"/>
                    <a:pt x="5654269" y="19908"/>
                    <a:pt x="5654269" y="27094"/>
                  </a:cubicBezTo>
                  <a:lnTo>
                    <a:pt x="5654269" y="790810"/>
                  </a:lnTo>
                  <a:cubicBezTo>
                    <a:pt x="5654269" y="805774"/>
                    <a:pt x="5642139" y="817904"/>
                    <a:pt x="5627175" y="817904"/>
                  </a:cubicBezTo>
                  <a:lnTo>
                    <a:pt x="27094" y="817904"/>
                  </a:lnTo>
                  <a:cubicBezTo>
                    <a:pt x="19908" y="817904"/>
                    <a:pt x="13017" y="815050"/>
                    <a:pt x="7936" y="809969"/>
                  </a:cubicBezTo>
                  <a:cubicBezTo>
                    <a:pt x="2855" y="804887"/>
                    <a:pt x="0" y="797996"/>
                    <a:pt x="0" y="790810"/>
                  </a:cubicBezTo>
                  <a:lnTo>
                    <a:pt x="0" y="27094"/>
                  </a:lnTo>
                  <a:cubicBezTo>
                    <a:pt x="0" y="12131"/>
                    <a:pt x="12131" y="0"/>
                    <a:pt x="27094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654269" cy="884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5076" y="6534229"/>
            <a:ext cx="8000722" cy="1196334"/>
            <a:chOff x="0" y="0"/>
            <a:chExt cx="5654269" cy="8454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54269" cy="845473"/>
            </a:xfrm>
            <a:custGeom>
              <a:avLst/>
              <a:gdLst/>
              <a:ahLst/>
              <a:cxnLst/>
              <a:rect l="l" t="t" r="r" b="b"/>
              <a:pathLst>
                <a:path w="5654269" h="845473">
                  <a:moveTo>
                    <a:pt x="27094" y="0"/>
                  </a:moveTo>
                  <a:lnTo>
                    <a:pt x="5627175" y="0"/>
                  </a:lnTo>
                  <a:cubicBezTo>
                    <a:pt x="5634361" y="0"/>
                    <a:pt x="5641252" y="2855"/>
                    <a:pt x="5646334" y="7936"/>
                  </a:cubicBezTo>
                  <a:cubicBezTo>
                    <a:pt x="5651415" y="13017"/>
                    <a:pt x="5654269" y="19908"/>
                    <a:pt x="5654269" y="27094"/>
                  </a:cubicBezTo>
                  <a:lnTo>
                    <a:pt x="5654269" y="818379"/>
                  </a:lnTo>
                  <a:cubicBezTo>
                    <a:pt x="5654269" y="833343"/>
                    <a:pt x="5642139" y="845473"/>
                    <a:pt x="5627175" y="845473"/>
                  </a:cubicBezTo>
                  <a:lnTo>
                    <a:pt x="27094" y="845473"/>
                  </a:lnTo>
                  <a:cubicBezTo>
                    <a:pt x="12131" y="845473"/>
                    <a:pt x="0" y="833343"/>
                    <a:pt x="0" y="818379"/>
                  </a:cubicBezTo>
                  <a:lnTo>
                    <a:pt x="0" y="27094"/>
                  </a:lnTo>
                  <a:cubicBezTo>
                    <a:pt x="0" y="12131"/>
                    <a:pt x="12131" y="0"/>
                    <a:pt x="27094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654269" cy="912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5076" y="6445669"/>
            <a:ext cx="8000722" cy="1196334"/>
            <a:chOff x="0" y="0"/>
            <a:chExt cx="5654269" cy="8454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54269" cy="845473"/>
            </a:xfrm>
            <a:custGeom>
              <a:avLst/>
              <a:gdLst/>
              <a:ahLst/>
              <a:cxnLst/>
              <a:rect l="l" t="t" r="r" b="b"/>
              <a:pathLst>
                <a:path w="5654269" h="845473">
                  <a:moveTo>
                    <a:pt x="27094" y="0"/>
                  </a:moveTo>
                  <a:lnTo>
                    <a:pt x="5627175" y="0"/>
                  </a:lnTo>
                  <a:cubicBezTo>
                    <a:pt x="5634361" y="0"/>
                    <a:pt x="5641252" y="2855"/>
                    <a:pt x="5646334" y="7936"/>
                  </a:cubicBezTo>
                  <a:cubicBezTo>
                    <a:pt x="5651415" y="13017"/>
                    <a:pt x="5654269" y="19908"/>
                    <a:pt x="5654269" y="27094"/>
                  </a:cubicBezTo>
                  <a:lnTo>
                    <a:pt x="5654269" y="818379"/>
                  </a:lnTo>
                  <a:cubicBezTo>
                    <a:pt x="5654269" y="833343"/>
                    <a:pt x="5642139" y="845473"/>
                    <a:pt x="5627175" y="845473"/>
                  </a:cubicBezTo>
                  <a:lnTo>
                    <a:pt x="27094" y="845473"/>
                  </a:lnTo>
                  <a:cubicBezTo>
                    <a:pt x="12131" y="845473"/>
                    <a:pt x="0" y="833343"/>
                    <a:pt x="0" y="818379"/>
                  </a:cubicBezTo>
                  <a:lnTo>
                    <a:pt x="0" y="27094"/>
                  </a:lnTo>
                  <a:cubicBezTo>
                    <a:pt x="0" y="12131"/>
                    <a:pt x="12131" y="0"/>
                    <a:pt x="27094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5654269" cy="912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8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865385" y="3369082"/>
            <a:ext cx="9113711" cy="3861935"/>
          </a:xfrm>
          <a:custGeom>
            <a:avLst/>
            <a:gdLst/>
            <a:ahLst/>
            <a:cxnLst/>
            <a:rect l="l" t="t" r="r" b="b"/>
            <a:pathLst>
              <a:path w="9113711" h="3861935">
                <a:moveTo>
                  <a:pt x="0" y="0"/>
                </a:moveTo>
                <a:lnTo>
                  <a:pt x="9113712" y="0"/>
                </a:lnTo>
                <a:lnTo>
                  <a:pt x="9113712" y="3861935"/>
                </a:lnTo>
                <a:lnTo>
                  <a:pt x="0" y="3861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640014" y="1196055"/>
            <a:ext cx="5319742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Liu et al., 2026 · CUHK · Tencent Hunyuan · Stanford 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9341" y="502635"/>
            <a:ext cx="1772966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800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MedSAM</a:t>
            </a:r>
            <a:r>
              <a:rPr lang="en-US" sz="48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-Agent — Hybrid Action Space &amp; Process Rewards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3554949"/>
            <a:ext cx="7578980" cy="47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8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box first to anchor the target area, then refine with clicks, then tell it to stop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77421" y="3063078"/>
            <a:ext cx="481920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0453" y="3144739"/>
            <a:ext cx="4996442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Hybrid Action Space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0453" y="5181600"/>
            <a:ext cx="75272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simulation strategies. Each click must improve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at least 0.04 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ΔIoU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τ=0.04) or get retried up to 5(N=5) times. Result: 449K–519K quality trajectories.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7421" y="4777036"/>
            <a:ext cx="738847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0453" y="4858697"/>
            <a:ext cx="6135361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Box-to-Point + Sequential-Click Trajectories 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6960654"/>
            <a:ext cx="8140544" cy="47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8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process rewards: mask quality, step improvement, overshoot penalty, and cost — together they teach the model when to stop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77421" y="6495834"/>
            <a:ext cx="620694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6550444"/>
            <a:ext cx="4838666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Clinical-Fidelity Process Rewards 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9755" y="2517490"/>
            <a:ext cx="9785065" cy="43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99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Three Key Innovations 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33535" y="7383091"/>
            <a:ext cx="4391898" cy="32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5: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MedSAM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-Agent Pipeline 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5076" y="8225863"/>
            <a:ext cx="12754042" cy="34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Rtotal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w1·Rfmt + w2·clip(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Rqual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λ1Rimp − λ2Rover − λ3Rcost, 0, 1) 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306781" y="9824821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9645" y="9824821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52475" y="9824821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2627" y="4879229"/>
            <a:ext cx="7906312" cy="978015"/>
            <a:chOff x="0" y="0"/>
            <a:chExt cx="2082321" cy="2575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2627" y="4914022"/>
            <a:ext cx="645067" cy="572298"/>
            <a:chOff x="0" y="0"/>
            <a:chExt cx="1316929" cy="1168368"/>
          </a:xfrm>
        </p:grpSpPr>
        <p:sp>
          <p:nvSpPr>
            <p:cNvPr id="6" name="Freeform 6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8961833" y="4115565"/>
            <a:ext cx="0" cy="5442277"/>
          </a:xfrm>
          <a:prstGeom prst="line">
            <a:avLst/>
          </a:prstGeom>
          <a:ln w="38100" cap="flat">
            <a:solidFill>
              <a:srgbClr val="2A2B39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852627" y="4092582"/>
            <a:ext cx="6211871" cy="639213"/>
            <a:chOff x="0" y="0"/>
            <a:chExt cx="6788021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88021" cy="698500"/>
            </a:xfrm>
            <a:custGeom>
              <a:avLst/>
              <a:gdLst/>
              <a:ahLst/>
              <a:cxnLst/>
              <a:rect l="l" t="t" r="r" b="b"/>
              <a:pathLst>
                <a:path w="6788021" h="698500">
                  <a:moveTo>
                    <a:pt x="6788021" y="349250"/>
                  </a:moveTo>
                  <a:lnTo>
                    <a:pt x="658482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584821" y="0"/>
                  </a:lnTo>
                  <a:lnTo>
                    <a:pt x="6788021" y="34925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14300" y="-57150"/>
              <a:ext cx="6559421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31488" y="3886160"/>
            <a:ext cx="919793" cy="91979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12235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830221" y="4121097"/>
            <a:ext cx="680111" cy="425069"/>
          </a:xfrm>
          <a:custGeom>
            <a:avLst/>
            <a:gdLst/>
            <a:ahLst/>
            <a:cxnLst/>
            <a:rect l="l" t="t" r="r" b="b"/>
            <a:pathLst>
              <a:path w="680111" h="425069">
                <a:moveTo>
                  <a:pt x="0" y="0"/>
                </a:moveTo>
                <a:lnTo>
                  <a:pt x="680110" y="0"/>
                </a:lnTo>
                <a:lnTo>
                  <a:pt x="680110" y="425069"/>
                </a:lnTo>
                <a:lnTo>
                  <a:pt x="0" y="425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017579" y="179070"/>
            <a:ext cx="12850720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MedSAM</a:t>
            </a:r>
            <a:r>
              <a:rPr lang="en-US" sz="4800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-Agent — Two-Stage Training Pipeline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67690" y="971550"/>
            <a:ext cx="728863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Trajectory Generation → Cold-Start SFT → Clinical-Fidelity RL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6995" y="4927282"/>
            <a:ext cx="146227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Format 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1304" y="4179449"/>
            <a:ext cx="505897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1: COLD-START SFT 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11637" y="4158714"/>
            <a:ext cx="6211871" cy="639213"/>
            <a:chOff x="0" y="0"/>
            <a:chExt cx="6788021" cy="698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88021" cy="698500"/>
            </a:xfrm>
            <a:custGeom>
              <a:avLst/>
              <a:gdLst/>
              <a:ahLst/>
              <a:cxnLst/>
              <a:rect l="l" t="t" r="r" b="b"/>
              <a:pathLst>
                <a:path w="6788021" h="698500">
                  <a:moveTo>
                    <a:pt x="6788021" y="349250"/>
                  </a:moveTo>
                  <a:lnTo>
                    <a:pt x="658482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584821" y="0"/>
                  </a:lnTo>
                  <a:lnTo>
                    <a:pt x="6788021" y="349250"/>
                  </a:ln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14300" y="-57150"/>
              <a:ext cx="6559421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90498" y="3952292"/>
            <a:ext cx="919793" cy="91979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FE7F2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770314" y="4245581"/>
            <a:ext cx="505897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2: AGENTIC RL (GRPO)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700002" y="4174866"/>
            <a:ext cx="500785" cy="509705"/>
          </a:xfrm>
          <a:custGeom>
            <a:avLst/>
            <a:gdLst/>
            <a:ahLst/>
            <a:cxnLst/>
            <a:rect l="l" t="t" r="r" b="b"/>
            <a:pathLst>
              <a:path w="500785" h="509705">
                <a:moveTo>
                  <a:pt x="0" y="0"/>
                </a:moveTo>
                <a:lnTo>
                  <a:pt x="500785" y="0"/>
                </a:lnTo>
                <a:lnTo>
                  <a:pt x="500785" y="509704"/>
                </a:lnTo>
                <a:lnTo>
                  <a:pt x="0" y="509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852627" y="2260820"/>
            <a:ext cx="2166811" cy="1210351"/>
            <a:chOff x="0" y="0"/>
            <a:chExt cx="395698" cy="22103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5698" cy="221031"/>
            </a:xfrm>
            <a:custGeom>
              <a:avLst/>
              <a:gdLst/>
              <a:ahLst/>
              <a:cxnLst/>
              <a:rect l="l" t="t" r="r" b="b"/>
              <a:pathLst>
                <a:path w="395698" h="221031">
                  <a:moveTo>
                    <a:pt x="3573" y="0"/>
                  </a:moveTo>
                  <a:lnTo>
                    <a:pt x="392125" y="0"/>
                  </a:lnTo>
                  <a:cubicBezTo>
                    <a:pt x="393072" y="0"/>
                    <a:pt x="393981" y="376"/>
                    <a:pt x="394651" y="1046"/>
                  </a:cubicBezTo>
                  <a:cubicBezTo>
                    <a:pt x="395321" y="1717"/>
                    <a:pt x="395698" y="2625"/>
                    <a:pt x="395698" y="3573"/>
                  </a:cubicBezTo>
                  <a:lnTo>
                    <a:pt x="395698" y="217458"/>
                  </a:lnTo>
                  <a:cubicBezTo>
                    <a:pt x="395698" y="218406"/>
                    <a:pt x="395321" y="219315"/>
                    <a:pt x="394651" y="219985"/>
                  </a:cubicBezTo>
                  <a:cubicBezTo>
                    <a:pt x="393981" y="220655"/>
                    <a:pt x="393072" y="221031"/>
                    <a:pt x="392125" y="221031"/>
                  </a:cubicBezTo>
                  <a:lnTo>
                    <a:pt x="3573" y="221031"/>
                  </a:lnTo>
                  <a:cubicBezTo>
                    <a:pt x="2625" y="221031"/>
                    <a:pt x="1717" y="220655"/>
                    <a:pt x="1046" y="219985"/>
                  </a:cubicBezTo>
                  <a:cubicBezTo>
                    <a:pt x="376" y="219315"/>
                    <a:pt x="0" y="218406"/>
                    <a:pt x="0" y="217458"/>
                  </a:cubicBezTo>
                  <a:lnTo>
                    <a:pt x="0" y="3573"/>
                  </a:lnTo>
                  <a:cubicBezTo>
                    <a:pt x="0" y="2625"/>
                    <a:pt x="376" y="1717"/>
                    <a:pt x="1046" y="1046"/>
                  </a:cubicBezTo>
                  <a:cubicBezTo>
                    <a:pt x="1717" y="376"/>
                    <a:pt x="2625" y="0"/>
                    <a:pt x="357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395698" cy="27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90173" y="2377173"/>
            <a:ext cx="1640655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2"/>
              </a:lnSpc>
            </a:pPr>
            <a:r>
              <a:rPr lang="en-US" sz="2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Image–Mask</a:t>
            </a:r>
          </a:p>
          <a:p>
            <a:pPr algn="ctr">
              <a:lnSpc>
                <a:spcPts val="2162"/>
              </a:lnSpc>
            </a:pPr>
            <a:r>
              <a:rPr lang="en-US" sz="2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Pairs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0888" y="2969628"/>
            <a:ext cx="173889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datasets</a:t>
            </a:r>
          </a:p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419K images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3735608" y="2260820"/>
            <a:ext cx="2166811" cy="1210351"/>
            <a:chOff x="0" y="0"/>
            <a:chExt cx="395698" cy="2210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5698" cy="221031"/>
            </a:xfrm>
            <a:custGeom>
              <a:avLst/>
              <a:gdLst/>
              <a:ahLst/>
              <a:cxnLst/>
              <a:rect l="l" t="t" r="r" b="b"/>
              <a:pathLst>
                <a:path w="395698" h="221031">
                  <a:moveTo>
                    <a:pt x="3573" y="0"/>
                  </a:moveTo>
                  <a:lnTo>
                    <a:pt x="392125" y="0"/>
                  </a:lnTo>
                  <a:cubicBezTo>
                    <a:pt x="393072" y="0"/>
                    <a:pt x="393981" y="376"/>
                    <a:pt x="394651" y="1046"/>
                  </a:cubicBezTo>
                  <a:cubicBezTo>
                    <a:pt x="395321" y="1717"/>
                    <a:pt x="395698" y="2625"/>
                    <a:pt x="395698" y="3573"/>
                  </a:cubicBezTo>
                  <a:lnTo>
                    <a:pt x="395698" y="217458"/>
                  </a:lnTo>
                  <a:cubicBezTo>
                    <a:pt x="395698" y="218406"/>
                    <a:pt x="395321" y="219315"/>
                    <a:pt x="394651" y="219985"/>
                  </a:cubicBezTo>
                  <a:cubicBezTo>
                    <a:pt x="393981" y="220655"/>
                    <a:pt x="393072" y="221031"/>
                    <a:pt x="392125" y="221031"/>
                  </a:cubicBezTo>
                  <a:lnTo>
                    <a:pt x="3573" y="221031"/>
                  </a:lnTo>
                  <a:cubicBezTo>
                    <a:pt x="2625" y="221031"/>
                    <a:pt x="1717" y="220655"/>
                    <a:pt x="1046" y="219985"/>
                  </a:cubicBezTo>
                  <a:cubicBezTo>
                    <a:pt x="376" y="219315"/>
                    <a:pt x="0" y="218406"/>
                    <a:pt x="0" y="217458"/>
                  </a:cubicBezTo>
                  <a:lnTo>
                    <a:pt x="0" y="3573"/>
                  </a:lnTo>
                  <a:cubicBezTo>
                    <a:pt x="0" y="2625"/>
                    <a:pt x="376" y="1717"/>
                    <a:pt x="1046" y="1046"/>
                  </a:cubicBezTo>
                  <a:cubicBezTo>
                    <a:pt x="1717" y="376"/>
                    <a:pt x="2625" y="0"/>
                    <a:pt x="3573" y="0"/>
                  </a:cubicBezTo>
                  <a:close/>
                </a:path>
              </a:pathLst>
            </a:custGeom>
            <a:ln w="19050" cap="sq">
              <a:solidFill>
                <a:srgbClr val="FE7F2D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395698" cy="27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973154" y="2377173"/>
            <a:ext cx="1640655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2"/>
              </a:lnSpc>
            </a:pPr>
            <a:r>
              <a:rPr lang="en-US" sz="2099" b="1" dirty="0">
                <a:solidFill>
                  <a:srgbClr val="FE7F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Box-to-Point</a:t>
            </a:r>
          </a:p>
          <a:p>
            <a:pPr algn="ctr">
              <a:lnSpc>
                <a:spcPts val="2162"/>
              </a:lnSpc>
            </a:pPr>
            <a:r>
              <a:rPr lang="en-US" sz="2099" b="1" dirty="0">
                <a:solidFill>
                  <a:srgbClr val="FE7F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 a₀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23869" y="2969628"/>
            <a:ext cx="173889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bbox with jitter</a:t>
            </a:r>
          </a:p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ε~U(−δ,δ)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618589" y="2260820"/>
            <a:ext cx="2140350" cy="1210351"/>
            <a:chOff x="0" y="0"/>
            <a:chExt cx="390865" cy="22103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90865" cy="221031"/>
            </a:xfrm>
            <a:custGeom>
              <a:avLst/>
              <a:gdLst/>
              <a:ahLst/>
              <a:cxnLst/>
              <a:rect l="l" t="t" r="r" b="b"/>
              <a:pathLst>
                <a:path w="390865" h="221031">
                  <a:moveTo>
                    <a:pt x="3617" y="0"/>
                  </a:moveTo>
                  <a:lnTo>
                    <a:pt x="387248" y="0"/>
                  </a:lnTo>
                  <a:cubicBezTo>
                    <a:pt x="389246" y="0"/>
                    <a:pt x="390865" y="1619"/>
                    <a:pt x="390865" y="3617"/>
                  </a:cubicBezTo>
                  <a:lnTo>
                    <a:pt x="390865" y="217414"/>
                  </a:lnTo>
                  <a:cubicBezTo>
                    <a:pt x="390865" y="219412"/>
                    <a:pt x="389246" y="221031"/>
                    <a:pt x="387248" y="221031"/>
                  </a:cubicBezTo>
                  <a:lnTo>
                    <a:pt x="3617" y="221031"/>
                  </a:lnTo>
                  <a:cubicBezTo>
                    <a:pt x="1619" y="221031"/>
                    <a:pt x="0" y="219412"/>
                    <a:pt x="0" y="217414"/>
                  </a:cubicBezTo>
                  <a:lnTo>
                    <a:pt x="0" y="3617"/>
                  </a:lnTo>
                  <a:cubicBezTo>
                    <a:pt x="0" y="1619"/>
                    <a:pt x="1619" y="0"/>
                    <a:pt x="3617" y="0"/>
                  </a:cubicBezTo>
                  <a:close/>
                </a:path>
              </a:pathLst>
            </a:custGeom>
            <a:ln w="19050" cap="sq">
              <a:solidFill>
                <a:srgbClr val="112F8D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90865" cy="27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856135" y="2377173"/>
            <a:ext cx="1640655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2100" b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Error-Driven</a:t>
            </a:r>
          </a:p>
          <a:p>
            <a:pPr algn="ctr">
              <a:lnSpc>
                <a:spcPts val="2163"/>
              </a:lnSpc>
            </a:pPr>
            <a:r>
              <a:rPr lang="en-US" sz="2100" b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Clicks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06850" y="2969628"/>
            <a:ext cx="173889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8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FN → positive</a:t>
            </a:r>
          </a:p>
          <a:p>
            <a:pPr algn="ctr">
              <a:lnSpc>
                <a:spcPts val="1440"/>
              </a:lnSpc>
            </a:pPr>
            <a:r>
              <a:rPr lang="en-US" sz="18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FP → negative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476968" y="2260820"/>
            <a:ext cx="2166811" cy="1210351"/>
            <a:chOff x="0" y="0"/>
            <a:chExt cx="395698" cy="22103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95698" cy="221031"/>
            </a:xfrm>
            <a:custGeom>
              <a:avLst/>
              <a:gdLst/>
              <a:ahLst/>
              <a:cxnLst/>
              <a:rect l="l" t="t" r="r" b="b"/>
              <a:pathLst>
                <a:path w="395698" h="221031">
                  <a:moveTo>
                    <a:pt x="3573" y="0"/>
                  </a:moveTo>
                  <a:lnTo>
                    <a:pt x="392125" y="0"/>
                  </a:lnTo>
                  <a:cubicBezTo>
                    <a:pt x="393072" y="0"/>
                    <a:pt x="393981" y="376"/>
                    <a:pt x="394651" y="1046"/>
                  </a:cubicBezTo>
                  <a:cubicBezTo>
                    <a:pt x="395321" y="1717"/>
                    <a:pt x="395698" y="2625"/>
                    <a:pt x="395698" y="3573"/>
                  </a:cubicBezTo>
                  <a:lnTo>
                    <a:pt x="395698" y="217458"/>
                  </a:lnTo>
                  <a:cubicBezTo>
                    <a:pt x="395698" y="218406"/>
                    <a:pt x="395321" y="219315"/>
                    <a:pt x="394651" y="219985"/>
                  </a:cubicBezTo>
                  <a:cubicBezTo>
                    <a:pt x="393981" y="220655"/>
                    <a:pt x="393072" y="221031"/>
                    <a:pt x="392125" y="221031"/>
                  </a:cubicBezTo>
                  <a:lnTo>
                    <a:pt x="3573" y="221031"/>
                  </a:lnTo>
                  <a:cubicBezTo>
                    <a:pt x="2625" y="221031"/>
                    <a:pt x="1717" y="220655"/>
                    <a:pt x="1046" y="219985"/>
                  </a:cubicBezTo>
                  <a:cubicBezTo>
                    <a:pt x="376" y="219315"/>
                    <a:pt x="0" y="218406"/>
                    <a:pt x="0" y="217458"/>
                  </a:cubicBezTo>
                  <a:lnTo>
                    <a:pt x="0" y="3573"/>
                  </a:lnTo>
                  <a:cubicBezTo>
                    <a:pt x="0" y="2625"/>
                    <a:pt x="376" y="1717"/>
                    <a:pt x="1046" y="1046"/>
                  </a:cubicBezTo>
                  <a:cubicBezTo>
                    <a:pt x="1717" y="376"/>
                    <a:pt x="2625" y="0"/>
                    <a:pt x="3573" y="0"/>
                  </a:cubicBezTo>
                  <a:close/>
                </a:path>
              </a:pathLst>
            </a:custGeom>
            <a:ln w="19050" cap="sq">
              <a:solidFill>
                <a:srgbClr val="0073C8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395698" cy="27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714514" y="2377173"/>
            <a:ext cx="1640655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2100" b="1" dirty="0" err="1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ΔIoU</a:t>
            </a:r>
            <a:r>
              <a:rPr lang="en-US" sz="2100" b="1" dirty="0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≥ τ</a:t>
            </a:r>
          </a:p>
          <a:p>
            <a:pPr algn="ctr">
              <a:lnSpc>
                <a:spcPts val="2163"/>
              </a:lnSpc>
            </a:pPr>
            <a:r>
              <a:rPr lang="en-US" sz="2100" b="1" dirty="0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Check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65229" y="2969628"/>
            <a:ext cx="173889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8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retry N=5</a:t>
            </a:r>
          </a:p>
          <a:p>
            <a:pPr algn="ctr">
              <a:lnSpc>
                <a:spcPts val="1440"/>
              </a:lnSpc>
            </a:pPr>
            <a:r>
              <a:rPr lang="en-US" sz="18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if fails → stop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2346492" y="2260820"/>
            <a:ext cx="2166811" cy="1210351"/>
            <a:chOff x="0" y="0"/>
            <a:chExt cx="395698" cy="22103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5698" cy="221031"/>
            </a:xfrm>
            <a:custGeom>
              <a:avLst/>
              <a:gdLst/>
              <a:ahLst/>
              <a:cxnLst/>
              <a:rect l="l" t="t" r="r" b="b"/>
              <a:pathLst>
                <a:path w="395698" h="221031">
                  <a:moveTo>
                    <a:pt x="3573" y="0"/>
                  </a:moveTo>
                  <a:lnTo>
                    <a:pt x="392125" y="0"/>
                  </a:lnTo>
                  <a:cubicBezTo>
                    <a:pt x="393072" y="0"/>
                    <a:pt x="393981" y="376"/>
                    <a:pt x="394651" y="1046"/>
                  </a:cubicBezTo>
                  <a:cubicBezTo>
                    <a:pt x="395321" y="1717"/>
                    <a:pt x="395698" y="2625"/>
                    <a:pt x="395698" y="3573"/>
                  </a:cubicBezTo>
                  <a:lnTo>
                    <a:pt x="395698" y="217458"/>
                  </a:lnTo>
                  <a:cubicBezTo>
                    <a:pt x="395698" y="218406"/>
                    <a:pt x="395321" y="219315"/>
                    <a:pt x="394651" y="219985"/>
                  </a:cubicBezTo>
                  <a:cubicBezTo>
                    <a:pt x="393981" y="220655"/>
                    <a:pt x="393072" y="221031"/>
                    <a:pt x="392125" y="221031"/>
                  </a:cubicBezTo>
                  <a:lnTo>
                    <a:pt x="3573" y="221031"/>
                  </a:lnTo>
                  <a:cubicBezTo>
                    <a:pt x="2625" y="221031"/>
                    <a:pt x="1717" y="220655"/>
                    <a:pt x="1046" y="219985"/>
                  </a:cubicBezTo>
                  <a:cubicBezTo>
                    <a:pt x="376" y="219315"/>
                    <a:pt x="0" y="218406"/>
                    <a:pt x="0" y="217458"/>
                  </a:cubicBezTo>
                  <a:lnTo>
                    <a:pt x="0" y="3573"/>
                  </a:lnTo>
                  <a:cubicBezTo>
                    <a:pt x="0" y="2625"/>
                    <a:pt x="376" y="1717"/>
                    <a:pt x="1046" y="1046"/>
                  </a:cubicBezTo>
                  <a:cubicBezTo>
                    <a:pt x="1717" y="376"/>
                    <a:pt x="2625" y="0"/>
                    <a:pt x="3573" y="0"/>
                  </a:cubicBezTo>
                  <a:close/>
                </a:path>
              </a:pathLst>
            </a:custGeom>
            <a:ln w="19050" cap="sq">
              <a:solidFill>
                <a:srgbClr val="00BFD0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395698" cy="27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2584038" y="2377173"/>
            <a:ext cx="1640655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2100" b="1">
                <a:solidFill>
                  <a:srgbClr val="00BFD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IoU Filter</a:t>
            </a:r>
          </a:p>
          <a:p>
            <a:pPr algn="ctr">
              <a:lnSpc>
                <a:spcPts val="2163"/>
              </a:lnSpc>
            </a:pPr>
            <a:r>
              <a:rPr lang="en-US" sz="2100" b="1">
                <a:solidFill>
                  <a:srgbClr val="00BFD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≥ threshold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534753" y="2969628"/>
            <a:ext cx="173889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prune low-</a:t>
            </a:r>
          </a:p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3F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seqs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5218153" y="2260820"/>
            <a:ext cx="2166811" cy="1210351"/>
            <a:chOff x="0" y="0"/>
            <a:chExt cx="395698" cy="22103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95698" cy="221031"/>
            </a:xfrm>
            <a:custGeom>
              <a:avLst/>
              <a:gdLst/>
              <a:ahLst/>
              <a:cxnLst/>
              <a:rect l="l" t="t" r="r" b="b"/>
              <a:pathLst>
                <a:path w="395698" h="221031">
                  <a:moveTo>
                    <a:pt x="3573" y="0"/>
                  </a:moveTo>
                  <a:lnTo>
                    <a:pt x="392125" y="0"/>
                  </a:lnTo>
                  <a:cubicBezTo>
                    <a:pt x="393072" y="0"/>
                    <a:pt x="393981" y="376"/>
                    <a:pt x="394651" y="1046"/>
                  </a:cubicBezTo>
                  <a:cubicBezTo>
                    <a:pt x="395321" y="1717"/>
                    <a:pt x="395698" y="2625"/>
                    <a:pt x="395698" y="3573"/>
                  </a:cubicBezTo>
                  <a:lnTo>
                    <a:pt x="395698" y="217458"/>
                  </a:lnTo>
                  <a:cubicBezTo>
                    <a:pt x="395698" y="218406"/>
                    <a:pt x="395321" y="219315"/>
                    <a:pt x="394651" y="219985"/>
                  </a:cubicBezTo>
                  <a:cubicBezTo>
                    <a:pt x="393981" y="220655"/>
                    <a:pt x="393072" y="221031"/>
                    <a:pt x="392125" y="221031"/>
                  </a:cubicBezTo>
                  <a:lnTo>
                    <a:pt x="3573" y="221031"/>
                  </a:lnTo>
                  <a:cubicBezTo>
                    <a:pt x="2625" y="221031"/>
                    <a:pt x="1717" y="220655"/>
                    <a:pt x="1046" y="219985"/>
                  </a:cubicBezTo>
                  <a:cubicBezTo>
                    <a:pt x="376" y="219315"/>
                    <a:pt x="0" y="218406"/>
                    <a:pt x="0" y="217458"/>
                  </a:cubicBezTo>
                  <a:lnTo>
                    <a:pt x="0" y="3573"/>
                  </a:lnTo>
                  <a:cubicBezTo>
                    <a:pt x="0" y="2625"/>
                    <a:pt x="376" y="1717"/>
                    <a:pt x="1046" y="1046"/>
                  </a:cubicBezTo>
                  <a:cubicBezTo>
                    <a:pt x="1717" y="376"/>
                    <a:pt x="2625" y="0"/>
                    <a:pt x="3573" y="0"/>
                  </a:cubicBezTo>
                  <a:close/>
                </a:path>
              </a:pathLst>
            </a:custGeom>
            <a:ln w="19050" cap="sq">
              <a:solidFill>
                <a:srgbClr val="007B80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395698" cy="27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5455699" y="2377173"/>
            <a:ext cx="1640655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2100" b="1" dirty="0">
                <a:solidFill>
                  <a:srgbClr val="007B8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449K SFT</a:t>
            </a:r>
          </a:p>
          <a:p>
            <a:pPr algn="ctr">
              <a:lnSpc>
                <a:spcPts val="2163"/>
              </a:lnSpc>
            </a:pPr>
            <a:r>
              <a:rPr lang="en-US" sz="2100" b="1" dirty="0">
                <a:solidFill>
                  <a:srgbClr val="007B8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Trajectories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406414" y="2969628"/>
            <a:ext cx="173889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8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monotonically</a:t>
            </a:r>
          </a:p>
          <a:p>
            <a:pPr algn="ctr">
              <a:lnSpc>
                <a:spcPts val="1440"/>
              </a:lnSpc>
            </a:pPr>
            <a:r>
              <a:rPr lang="en-US" sz="1800" b="1">
                <a:solidFill>
                  <a:srgbClr val="003F8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improving seqs</a:t>
            </a:r>
          </a:p>
        </p:txBody>
      </p:sp>
      <p:sp>
        <p:nvSpPr>
          <p:cNvPr id="58" name="AutoShape 58"/>
          <p:cNvSpPr/>
          <p:nvPr/>
        </p:nvSpPr>
        <p:spPr>
          <a:xfrm>
            <a:off x="3017579" y="2865996"/>
            <a:ext cx="718029" cy="0"/>
          </a:xfrm>
          <a:prstGeom prst="line">
            <a:avLst/>
          </a:prstGeom>
          <a:ln w="38100" cap="flat">
            <a:solidFill>
              <a:srgbClr val="2A2B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AutoShape 59"/>
          <p:cNvSpPr/>
          <p:nvPr/>
        </p:nvSpPr>
        <p:spPr>
          <a:xfrm>
            <a:off x="5900560" y="2885046"/>
            <a:ext cx="718029" cy="0"/>
          </a:xfrm>
          <a:prstGeom prst="line">
            <a:avLst/>
          </a:prstGeom>
          <a:ln w="38100" cap="flat">
            <a:solidFill>
              <a:srgbClr val="2A2B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" name="AutoShape 60"/>
          <p:cNvSpPr/>
          <p:nvPr/>
        </p:nvSpPr>
        <p:spPr>
          <a:xfrm>
            <a:off x="8758939" y="2835135"/>
            <a:ext cx="718029" cy="0"/>
          </a:xfrm>
          <a:prstGeom prst="line">
            <a:avLst/>
          </a:prstGeom>
          <a:ln w="38100" cap="flat">
            <a:solidFill>
              <a:srgbClr val="2A2B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AutoShape 61"/>
          <p:cNvSpPr/>
          <p:nvPr/>
        </p:nvSpPr>
        <p:spPr>
          <a:xfrm>
            <a:off x="11646471" y="2815761"/>
            <a:ext cx="718029" cy="0"/>
          </a:xfrm>
          <a:prstGeom prst="line">
            <a:avLst/>
          </a:prstGeom>
          <a:ln w="38100" cap="flat">
            <a:solidFill>
              <a:srgbClr val="2A2B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14513303" y="2834811"/>
            <a:ext cx="718029" cy="0"/>
          </a:xfrm>
          <a:prstGeom prst="line">
            <a:avLst/>
          </a:prstGeom>
          <a:ln w="38100" cap="flat">
            <a:solidFill>
              <a:srgbClr val="2A2B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TextBox 63"/>
          <p:cNvSpPr txBox="1"/>
          <p:nvPr/>
        </p:nvSpPr>
        <p:spPr>
          <a:xfrm>
            <a:off x="840439" y="1650851"/>
            <a:ext cx="128507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Expert Trajectory Generation — Hybrid Prompting Strategy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193351" y="9778940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26215" y="9778940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139045" y="9778940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596995" y="5331143"/>
            <a:ext cx="7288638" cy="41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action is wrapped in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tool_call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tags. The model learns to predict the next token in sequence — standard supervised learning.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852627" y="6065694"/>
            <a:ext cx="7906312" cy="978015"/>
            <a:chOff x="0" y="0"/>
            <a:chExt cx="2082321" cy="25758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52627" y="6100488"/>
            <a:ext cx="645067" cy="572298"/>
            <a:chOff x="0" y="0"/>
            <a:chExt cx="1316929" cy="1168368"/>
          </a:xfrm>
        </p:grpSpPr>
        <p:sp>
          <p:nvSpPr>
            <p:cNvPr id="72" name="Freeform 72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596995" y="6113748"/>
            <a:ext cx="146227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Loop: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96995" y="6517608"/>
            <a:ext cx="7288638" cy="41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every click, the new mask is drawn on the image and shown back to the model. It sees how its own work is improving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76" name="Group 76"/>
          <p:cNvGrpSpPr/>
          <p:nvPr/>
        </p:nvGrpSpPr>
        <p:grpSpPr>
          <a:xfrm>
            <a:off x="852627" y="7252160"/>
            <a:ext cx="7906312" cy="978015"/>
            <a:chOff x="0" y="0"/>
            <a:chExt cx="2082321" cy="25758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52627" y="7286954"/>
            <a:ext cx="645067" cy="572298"/>
            <a:chOff x="0" y="0"/>
            <a:chExt cx="1316929" cy="1168368"/>
          </a:xfrm>
        </p:grpSpPr>
        <p:sp>
          <p:nvSpPr>
            <p:cNvPr id="80" name="Freeform 80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596995" y="7300214"/>
            <a:ext cx="430356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Frozen vs Trained:  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596995" y="7704074"/>
            <a:ext cx="7288638" cy="41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encoder stays frozen. Only the language model weights get updated,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DeepSpeed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ZeRO-3 for memory efficiency.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84" name="Group 84"/>
          <p:cNvGrpSpPr/>
          <p:nvPr/>
        </p:nvGrpSpPr>
        <p:grpSpPr>
          <a:xfrm>
            <a:off x="852627" y="8438626"/>
            <a:ext cx="7906312" cy="978015"/>
            <a:chOff x="0" y="0"/>
            <a:chExt cx="2082321" cy="25758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52627" y="8473420"/>
            <a:ext cx="645067" cy="572298"/>
            <a:chOff x="0" y="0"/>
            <a:chExt cx="1316929" cy="1168368"/>
          </a:xfrm>
        </p:grpSpPr>
        <p:sp>
          <p:nvSpPr>
            <p:cNvPr id="88" name="Freeform 88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596995" y="8486680"/>
            <a:ext cx="233143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Scale:  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96995" y="8890540"/>
            <a:ext cx="728863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449K samples (MedSAM2 trajectories) or 519K (IMISNet). IoU filter ≥ 0.7 applied. Both Box-to-Point and Sequential-Click paradigms included.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9351959" y="4914022"/>
            <a:ext cx="7906312" cy="978015"/>
            <a:chOff x="0" y="0"/>
            <a:chExt cx="2082321" cy="2575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94" name="TextBox 94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351959" y="4948816"/>
            <a:ext cx="645067" cy="572298"/>
            <a:chOff x="0" y="0"/>
            <a:chExt cx="1316929" cy="1168368"/>
          </a:xfrm>
        </p:grpSpPr>
        <p:sp>
          <p:nvSpPr>
            <p:cNvPr id="96" name="Freeform 96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97" name="TextBox 97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10096327" y="4962076"/>
            <a:ext cx="155014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RL Data: 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096327" y="5365936"/>
            <a:ext cx="7288638" cy="41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9K samples — but all hard cases needing 3–5 rounds. Easy examples teach nothing useful for RL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00" name="Group 100"/>
          <p:cNvGrpSpPr/>
          <p:nvPr/>
        </p:nvGrpSpPr>
        <p:grpSpPr>
          <a:xfrm>
            <a:off x="9351959" y="6100488"/>
            <a:ext cx="7906312" cy="978015"/>
            <a:chOff x="0" y="0"/>
            <a:chExt cx="2082321" cy="25758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02" name="TextBox 102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351959" y="6135282"/>
            <a:ext cx="645067" cy="572298"/>
            <a:chOff x="0" y="0"/>
            <a:chExt cx="1316929" cy="1168368"/>
          </a:xfrm>
        </p:grpSpPr>
        <p:sp>
          <p:nvSpPr>
            <p:cNvPr id="104" name="Freeform 104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105" name="TextBox 105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10096327" y="6148542"/>
            <a:ext cx="215178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Reward: Rqual: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096327" y="6552402"/>
            <a:ext cx="728863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wiou·IoUfinal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wdice·Dicefinal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Dice added because it is more sensitive to small lesions in class-imbalanced medical scenarios. </a:t>
            </a:r>
          </a:p>
        </p:txBody>
      </p:sp>
      <p:grpSp>
        <p:nvGrpSpPr>
          <p:cNvPr id="108" name="Group 108"/>
          <p:cNvGrpSpPr/>
          <p:nvPr/>
        </p:nvGrpSpPr>
        <p:grpSpPr>
          <a:xfrm>
            <a:off x="9351959" y="7286954"/>
            <a:ext cx="7906312" cy="978015"/>
            <a:chOff x="0" y="0"/>
            <a:chExt cx="2082321" cy="25758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10" name="TextBox 110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9351959" y="7321748"/>
            <a:ext cx="645067" cy="572298"/>
            <a:chOff x="0" y="0"/>
            <a:chExt cx="1316929" cy="1168368"/>
          </a:xfrm>
        </p:grpSpPr>
        <p:sp>
          <p:nvSpPr>
            <p:cNvPr id="112" name="Freeform 112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113" name="TextBox 113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10096327" y="7335008"/>
            <a:ext cx="510446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Reward: Rimp (Progressive):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096327" y="7738868"/>
            <a:ext cx="728863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Σ max(0, IoUt − IoUt−1). Cumulative bonus for monotonic improvement. Discourages redundant clicks that don't contribute. </a:t>
            </a:r>
          </a:p>
        </p:txBody>
      </p:sp>
      <p:grpSp>
        <p:nvGrpSpPr>
          <p:cNvPr id="116" name="Group 116"/>
          <p:cNvGrpSpPr/>
          <p:nvPr/>
        </p:nvGrpSpPr>
        <p:grpSpPr>
          <a:xfrm>
            <a:off x="9351959" y="8473420"/>
            <a:ext cx="7906312" cy="978015"/>
            <a:chOff x="0" y="0"/>
            <a:chExt cx="2082321" cy="257584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082321" cy="257584"/>
            </a:xfrm>
            <a:custGeom>
              <a:avLst/>
              <a:gdLst/>
              <a:ahLst/>
              <a:cxnLst/>
              <a:rect l="l" t="t" r="r" b="b"/>
              <a:pathLst>
                <a:path w="2082321" h="257584">
                  <a:moveTo>
                    <a:pt x="25459" y="0"/>
                  </a:moveTo>
                  <a:lnTo>
                    <a:pt x="2056861" y="0"/>
                  </a:lnTo>
                  <a:cubicBezTo>
                    <a:pt x="2070922" y="0"/>
                    <a:pt x="2082321" y="11399"/>
                    <a:pt x="2082321" y="25459"/>
                  </a:cubicBezTo>
                  <a:lnTo>
                    <a:pt x="2082321" y="232125"/>
                  </a:lnTo>
                  <a:cubicBezTo>
                    <a:pt x="2082321" y="238877"/>
                    <a:pt x="2079638" y="245353"/>
                    <a:pt x="2074864" y="250127"/>
                  </a:cubicBezTo>
                  <a:cubicBezTo>
                    <a:pt x="2070089" y="254902"/>
                    <a:pt x="2063614" y="257584"/>
                    <a:pt x="2056861" y="257584"/>
                  </a:cubicBezTo>
                  <a:lnTo>
                    <a:pt x="25459" y="257584"/>
                  </a:lnTo>
                  <a:cubicBezTo>
                    <a:pt x="18707" y="257584"/>
                    <a:pt x="12231" y="254902"/>
                    <a:pt x="7457" y="250127"/>
                  </a:cubicBezTo>
                  <a:cubicBezTo>
                    <a:pt x="2682" y="245353"/>
                    <a:pt x="0" y="238877"/>
                    <a:pt x="0" y="232125"/>
                  </a:cubicBezTo>
                  <a:lnTo>
                    <a:pt x="0" y="25459"/>
                  </a:lnTo>
                  <a:cubicBezTo>
                    <a:pt x="0" y="18707"/>
                    <a:pt x="2682" y="12231"/>
                    <a:pt x="7457" y="7457"/>
                  </a:cubicBezTo>
                  <a:cubicBezTo>
                    <a:pt x="12231" y="2682"/>
                    <a:pt x="18707" y="0"/>
                    <a:pt x="25459" y="0"/>
                  </a:cubicBez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18" name="TextBox 118"/>
            <p:cNvSpPr txBox="1"/>
            <p:nvPr/>
          </p:nvSpPr>
          <p:spPr>
            <a:xfrm>
              <a:off x="0" y="-57150"/>
              <a:ext cx="2082321" cy="314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351959" y="8508214"/>
            <a:ext cx="645067" cy="572298"/>
            <a:chOff x="0" y="0"/>
            <a:chExt cx="1316929" cy="1168368"/>
          </a:xfrm>
        </p:grpSpPr>
        <p:sp>
          <p:nvSpPr>
            <p:cNvPr id="120" name="Freeform 120"/>
            <p:cNvSpPr/>
            <p:nvPr/>
          </p:nvSpPr>
          <p:spPr>
            <a:xfrm>
              <a:off x="24792" y="0"/>
              <a:ext cx="1267345" cy="1168368"/>
            </a:xfrm>
            <a:custGeom>
              <a:avLst/>
              <a:gdLst/>
              <a:ahLst/>
              <a:cxnLst/>
              <a:rect l="l" t="t" r="r" b="b"/>
              <a:pathLst>
                <a:path w="1267345" h="1168368">
                  <a:moveTo>
                    <a:pt x="334431" y="0"/>
                  </a:moveTo>
                  <a:lnTo>
                    <a:pt x="1136114" y="0"/>
                  </a:lnTo>
                  <a:cubicBezTo>
                    <a:pt x="1174851" y="0"/>
                    <a:pt x="1211609" y="17114"/>
                    <a:pt x="1236543" y="46759"/>
                  </a:cubicBezTo>
                  <a:cubicBezTo>
                    <a:pt x="1261478" y="76404"/>
                    <a:pt x="1272041" y="115551"/>
                    <a:pt x="1265403" y="153715"/>
                  </a:cubicBezTo>
                  <a:lnTo>
                    <a:pt x="1115671" y="1014653"/>
                  </a:lnTo>
                  <a:cubicBezTo>
                    <a:pt x="1100218" y="1103505"/>
                    <a:pt x="1023100" y="1168368"/>
                    <a:pt x="932914" y="1168368"/>
                  </a:cubicBezTo>
                  <a:lnTo>
                    <a:pt x="131231" y="1168368"/>
                  </a:lnTo>
                  <a:cubicBezTo>
                    <a:pt x="92494" y="1168368"/>
                    <a:pt x="55736" y="1151254"/>
                    <a:pt x="30802" y="1121609"/>
                  </a:cubicBezTo>
                  <a:cubicBezTo>
                    <a:pt x="5867" y="1091964"/>
                    <a:pt x="-4696" y="1052817"/>
                    <a:pt x="1942" y="1014653"/>
                  </a:cubicBezTo>
                  <a:lnTo>
                    <a:pt x="151674" y="153715"/>
                  </a:lnTo>
                  <a:cubicBezTo>
                    <a:pt x="167127" y="64863"/>
                    <a:pt x="244245" y="0"/>
                    <a:pt x="334431" y="0"/>
                  </a:cubicBezTo>
                  <a:close/>
                </a:path>
              </a:pathLst>
            </a:custGeom>
            <a:solidFill>
              <a:srgbClr val="FE7F2D"/>
            </a:solidFill>
          </p:spPr>
        </p:sp>
        <p:sp>
          <p:nvSpPr>
            <p:cNvPr id="121" name="TextBox 121"/>
            <p:cNvSpPr txBox="1"/>
            <p:nvPr/>
          </p:nvSpPr>
          <p:spPr>
            <a:xfrm>
              <a:off x="101600" y="-57150"/>
              <a:ext cx="1113729" cy="122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u="none" strike="noStrik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0096327" y="8521474"/>
            <a:ext cx="4394171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Reward: Rover + Rcost: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096327" y="8925334"/>
            <a:ext cx="7481241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Rover =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IoUmax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-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IoUfinal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penalizes overshoot past peak.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Rcost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linear length penalty. Together teach optimal stopping without ground truth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IoU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access.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6" grpId="0"/>
      <p:bldP spid="31" grpId="0"/>
      <p:bldP spid="32" grpId="0"/>
      <p:bldP spid="36" grpId="0"/>
      <p:bldP spid="37" grpId="0"/>
      <p:bldP spid="41" grpId="0"/>
      <p:bldP spid="42" grpId="0"/>
      <p:bldP spid="46" grpId="0"/>
      <p:bldP spid="47" grpId="0"/>
      <p:bldP spid="51" grpId="0"/>
      <p:bldP spid="52" grpId="0"/>
      <p:bldP spid="56" grpId="0"/>
      <p:bldP spid="57" grpId="0"/>
      <p:bldP spid="63" grpId="0"/>
      <p:bldP spid="67" grpId="0"/>
      <p:bldP spid="74" grpId="0"/>
      <p:bldP spid="75" grpId="0"/>
      <p:bldP spid="82" grpId="0"/>
      <p:bldP spid="83" grpId="0"/>
      <p:bldP spid="90" grpId="0"/>
      <p:bldP spid="91" grpId="0"/>
      <p:bldP spid="98" grpId="0"/>
      <p:bldP spid="99" grpId="0"/>
      <p:bldP spid="106" grpId="0"/>
      <p:bldP spid="107" grpId="0"/>
      <p:bldP spid="114" grpId="0"/>
      <p:bldP spid="115" grpId="0"/>
      <p:bldP spid="122" grpId="0"/>
      <p:bldP spid="1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06820"/>
            <a:ext cx="3109802" cy="1226204"/>
            <a:chOff x="0" y="0"/>
            <a:chExt cx="395698" cy="156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698" cy="156025"/>
            </a:xfrm>
            <a:custGeom>
              <a:avLst/>
              <a:gdLst/>
              <a:ahLst/>
              <a:cxnLst/>
              <a:rect l="l" t="t" r="r" b="b"/>
              <a:pathLst>
                <a:path w="395698" h="156025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16192"/>
                  </a:lnTo>
                  <a:cubicBezTo>
                    <a:pt x="395698" y="138191"/>
                    <a:pt x="377864" y="156025"/>
                    <a:pt x="355865" y="156025"/>
                  </a:cubicBezTo>
                  <a:lnTo>
                    <a:pt x="39832" y="156025"/>
                  </a:lnTo>
                  <a:cubicBezTo>
                    <a:pt x="29268" y="156025"/>
                    <a:pt x="19137" y="151828"/>
                    <a:pt x="11667" y="144358"/>
                  </a:cubicBezTo>
                  <a:cubicBezTo>
                    <a:pt x="4197" y="136888"/>
                    <a:pt x="0" y="126757"/>
                    <a:pt x="0" y="116192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95698" cy="213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34632"/>
              </p:ext>
            </p:extLst>
          </p:nvPr>
        </p:nvGraphicFramePr>
        <p:xfrm>
          <a:off x="1028700" y="4069059"/>
          <a:ext cx="8020050" cy="4954258"/>
        </p:xfrm>
        <a:graphic>
          <a:graphicData uri="http://schemas.openxmlformats.org/drawingml/2006/table">
            <a:tbl>
              <a:tblPr/>
              <a:tblGrid>
                <a:gridCol w="332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24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0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Base (Qwen3-VL-8B)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4.34</a:t>
                      </a:r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0.263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0.178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00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SFT only — Hybrid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2.35</a:t>
                      </a:r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0.769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0.686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00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SFT — Click only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</a:t>
                      </a:r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0.719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0.623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00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SFT — Box only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2.06</a:t>
                      </a:r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0.745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0.649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00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RL only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0.678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0.593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00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B2E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Full SFT + RL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2.11</a:t>
                      </a:r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B2E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0.794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B2E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0.705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5220174" y="1706820"/>
            <a:ext cx="3109802" cy="1226204"/>
            <a:chOff x="0" y="0"/>
            <a:chExt cx="395698" cy="1560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5698" cy="156025"/>
            </a:xfrm>
            <a:custGeom>
              <a:avLst/>
              <a:gdLst/>
              <a:ahLst/>
              <a:cxnLst/>
              <a:rect l="l" t="t" r="r" b="b"/>
              <a:pathLst>
                <a:path w="395698" h="156025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16192"/>
                  </a:lnTo>
                  <a:cubicBezTo>
                    <a:pt x="395698" y="138191"/>
                    <a:pt x="377864" y="156025"/>
                    <a:pt x="355865" y="156025"/>
                  </a:cubicBezTo>
                  <a:lnTo>
                    <a:pt x="39832" y="156025"/>
                  </a:lnTo>
                  <a:cubicBezTo>
                    <a:pt x="29268" y="156025"/>
                    <a:pt x="19137" y="151828"/>
                    <a:pt x="11667" y="144358"/>
                  </a:cubicBezTo>
                  <a:cubicBezTo>
                    <a:pt x="4197" y="136888"/>
                    <a:pt x="0" y="126757"/>
                    <a:pt x="0" y="116192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95698" cy="213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11647" y="1706820"/>
            <a:ext cx="3109802" cy="1226204"/>
            <a:chOff x="0" y="0"/>
            <a:chExt cx="395698" cy="1560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5698" cy="156025"/>
            </a:xfrm>
            <a:custGeom>
              <a:avLst/>
              <a:gdLst/>
              <a:ahLst/>
              <a:cxnLst/>
              <a:rect l="l" t="t" r="r" b="b"/>
              <a:pathLst>
                <a:path w="395698" h="156025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16192"/>
                  </a:lnTo>
                  <a:cubicBezTo>
                    <a:pt x="395698" y="138191"/>
                    <a:pt x="377864" y="156025"/>
                    <a:pt x="355865" y="156025"/>
                  </a:cubicBezTo>
                  <a:lnTo>
                    <a:pt x="39832" y="156025"/>
                  </a:lnTo>
                  <a:cubicBezTo>
                    <a:pt x="29268" y="156025"/>
                    <a:pt x="19137" y="151828"/>
                    <a:pt x="11667" y="144358"/>
                  </a:cubicBezTo>
                  <a:cubicBezTo>
                    <a:pt x="4197" y="136888"/>
                    <a:pt x="0" y="126757"/>
                    <a:pt x="0" y="116192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95698" cy="213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03121" y="1706820"/>
            <a:ext cx="3109802" cy="1226204"/>
            <a:chOff x="0" y="0"/>
            <a:chExt cx="395698" cy="1560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5698" cy="156025"/>
            </a:xfrm>
            <a:custGeom>
              <a:avLst/>
              <a:gdLst/>
              <a:ahLst/>
              <a:cxnLst/>
              <a:rect l="l" t="t" r="r" b="b"/>
              <a:pathLst>
                <a:path w="395698" h="156025">
                  <a:moveTo>
                    <a:pt x="39832" y="0"/>
                  </a:moveTo>
                  <a:lnTo>
                    <a:pt x="355865" y="0"/>
                  </a:lnTo>
                  <a:cubicBezTo>
                    <a:pt x="366429" y="0"/>
                    <a:pt x="376561" y="4197"/>
                    <a:pt x="384031" y="11667"/>
                  </a:cubicBezTo>
                  <a:cubicBezTo>
                    <a:pt x="391501" y="19137"/>
                    <a:pt x="395698" y="29268"/>
                    <a:pt x="395698" y="39832"/>
                  </a:cubicBezTo>
                  <a:lnTo>
                    <a:pt x="395698" y="116192"/>
                  </a:lnTo>
                  <a:cubicBezTo>
                    <a:pt x="395698" y="138191"/>
                    <a:pt x="377864" y="156025"/>
                    <a:pt x="355865" y="156025"/>
                  </a:cubicBezTo>
                  <a:lnTo>
                    <a:pt x="39832" y="156025"/>
                  </a:lnTo>
                  <a:cubicBezTo>
                    <a:pt x="29268" y="156025"/>
                    <a:pt x="19137" y="151828"/>
                    <a:pt x="11667" y="144358"/>
                  </a:cubicBezTo>
                  <a:cubicBezTo>
                    <a:pt x="4197" y="136888"/>
                    <a:pt x="0" y="126757"/>
                    <a:pt x="0" y="116192"/>
                  </a:cubicBezTo>
                  <a:lnTo>
                    <a:pt x="0" y="39832"/>
                  </a:lnTo>
                  <a:cubicBezTo>
                    <a:pt x="0" y="29268"/>
                    <a:pt x="4197" y="19137"/>
                    <a:pt x="11667" y="11667"/>
                  </a:cubicBezTo>
                  <a:cubicBezTo>
                    <a:pt x="19137" y="4197"/>
                    <a:pt x="29268" y="0"/>
                    <a:pt x="3983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95698" cy="213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915650" y="3323550"/>
            <a:ext cx="6050707" cy="5603227"/>
          </a:xfrm>
          <a:custGeom>
            <a:avLst/>
            <a:gdLst/>
            <a:ahLst/>
            <a:cxnLst/>
            <a:rect l="l" t="t" r="r" b="b"/>
            <a:pathLst>
              <a:path w="6050707" h="5603227">
                <a:moveTo>
                  <a:pt x="0" y="0"/>
                </a:moveTo>
                <a:lnTo>
                  <a:pt x="6050707" y="0"/>
                </a:lnTo>
                <a:lnTo>
                  <a:pt x="6050707" y="5603227"/>
                </a:lnTo>
                <a:lnTo>
                  <a:pt x="0" y="5603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88983" y="278705"/>
            <a:ext cx="17739071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MedSAM</a:t>
            </a:r>
            <a:r>
              <a:rPr lang="en-US" sz="4800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-Agent — Results Across 6 Modalities &amp; 21 Datasets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252160"/>
            <a:ext cx="80200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 · MRI · X-Ray · Ultrasound · Fundus · Endoscopy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0411" y="1844913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0.794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4718" y="2387709"/>
            <a:ext cx="2910357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Dice (MedSAM2)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437850"/>
            <a:ext cx="802005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112F8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Ablation: Action Strategy Impact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2681" y="4233086"/>
            <a:ext cx="258184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57798" y="4242611"/>
            <a:ext cx="1161854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nTurns</a:t>
            </a: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170510" y="8985221"/>
            <a:ext cx="4288504" cy="32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6: Multi-Turn Interaction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37833" y="1844913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0.705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80682" y="2397234"/>
            <a:ext cx="271654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IoU (MedSAM2)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33838" y="1779222"/>
            <a:ext cx="235466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2.11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20687" y="2387709"/>
            <a:ext cx="270076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interaction turns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84002" y="1844913"/>
            <a:ext cx="98201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17269" y="2387709"/>
            <a:ext cx="249565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evaluated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53114" y="4242611"/>
            <a:ext cx="1319630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84701" y="4242611"/>
            <a:ext cx="1433004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IoU</a:t>
            </a: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7398653" y="9806010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1517" y="9806010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44347" y="9806010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63437"/>
            <a:ext cx="6720866" cy="2033389"/>
            <a:chOff x="0" y="0"/>
            <a:chExt cx="1354105" cy="409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105" cy="409683"/>
            </a:xfrm>
            <a:custGeom>
              <a:avLst/>
              <a:gdLst/>
              <a:ahLst/>
              <a:cxnLst/>
              <a:rect l="l" t="t" r="r" b="b"/>
              <a:pathLst>
                <a:path w="1354105" h="409683">
                  <a:moveTo>
                    <a:pt x="0" y="0"/>
                  </a:moveTo>
                  <a:lnTo>
                    <a:pt x="1354105" y="0"/>
                  </a:lnTo>
                  <a:lnTo>
                    <a:pt x="1354105" y="409683"/>
                  </a:lnTo>
                  <a:lnTo>
                    <a:pt x="0" y="409683"/>
                  </a:ln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54105" cy="466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2477656" y="918016"/>
            <a:ext cx="567591" cy="3465504"/>
            <a:chOff x="0" y="0"/>
            <a:chExt cx="699276" cy="42695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9276" cy="4269524"/>
            </a:xfrm>
            <a:custGeom>
              <a:avLst/>
              <a:gdLst/>
              <a:ahLst/>
              <a:cxnLst/>
              <a:rect l="l" t="t" r="r" b="b"/>
              <a:pathLst>
                <a:path w="699276" h="4269524">
                  <a:moveTo>
                    <a:pt x="233218" y="4250455"/>
                  </a:moveTo>
                  <a:cubicBezTo>
                    <a:pt x="269068" y="4261969"/>
                    <a:pt x="309825" y="4269524"/>
                    <a:pt x="349826" y="4269524"/>
                  </a:cubicBezTo>
                  <a:cubicBezTo>
                    <a:pt x="389829" y="4269524"/>
                    <a:pt x="428322" y="4263048"/>
                    <a:pt x="463794" y="4251534"/>
                  </a:cubicBezTo>
                  <a:cubicBezTo>
                    <a:pt x="464549" y="4251174"/>
                    <a:pt x="465304" y="4251174"/>
                    <a:pt x="466058" y="4250815"/>
                  </a:cubicBezTo>
                  <a:cubicBezTo>
                    <a:pt x="599272" y="4204760"/>
                    <a:pt x="697390" y="4083146"/>
                    <a:pt x="699276" y="3864239"/>
                  </a:cubicBezTo>
                  <a:lnTo>
                    <a:pt x="699276" y="0"/>
                  </a:lnTo>
                  <a:lnTo>
                    <a:pt x="0" y="0"/>
                  </a:lnTo>
                  <a:lnTo>
                    <a:pt x="0" y="3861371"/>
                  </a:lnTo>
                  <a:cubicBezTo>
                    <a:pt x="1887" y="4083864"/>
                    <a:pt x="98495" y="4205480"/>
                    <a:pt x="233218" y="4250455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99276" cy="4199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538356"/>
            <a:ext cx="6720866" cy="2033389"/>
            <a:chOff x="0" y="0"/>
            <a:chExt cx="1354105" cy="4096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4105" cy="409683"/>
            </a:xfrm>
            <a:custGeom>
              <a:avLst/>
              <a:gdLst/>
              <a:ahLst/>
              <a:cxnLst/>
              <a:rect l="l" t="t" r="r" b="b"/>
              <a:pathLst>
                <a:path w="1354105" h="409683">
                  <a:moveTo>
                    <a:pt x="0" y="0"/>
                  </a:moveTo>
                  <a:lnTo>
                    <a:pt x="1354105" y="0"/>
                  </a:lnTo>
                  <a:lnTo>
                    <a:pt x="1354105" y="409683"/>
                  </a:lnTo>
                  <a:lnTo>
                    <a:pt x="0" y="409683"/>
                  </a:ln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54105" cy="466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2477656" y="3192935"/>
            <a:ext cx="567591" cy="3465504"/>
            <a:chOff x="0" y="0"/>
            <a:chExt cx="699276" cy="42695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9276" cy="4269524"/>
            </a:xfrm>
            <a:custGeom>
              <a:avLst/>
              <a:gdLst/>
              <a:ahLst/>
              <a:cxnLst/>
              <a:rect l="l" t="t" r="r" b="b"/>
              <a:pathLst>
                <a:path w="699276" h="4269524">
                  <a:moveTo>
                    <a:pt x="233218" y="4250455"/>
                  </a:moveTo>
                  <a:cubicBezTo>
                    <a:pt x="269068" y="4261969"/>
                    <a:pt x="309825" y="4269524"/>
                    <a:pt x="349826" y="4269524"/>
                  </a:cubicBezTo>
                  <a:cubicBezTo>
                    <a:pt x="389829" y="4269524"/>
                    <a:pt x="428322" y="4263048"/>
                    <a:pt x="463794" y="4251534"/>
                  </a:cubicBezTo>
                  <a:cubicBezTo>
                    <a:pt x="464549" y="4251174"/>
                    <a:pt x="465304" y="4251174"/>
                    <a:pt x="466058" y="4250815"/>
                  </a:cubicBezTo>
                  <a:cubicBezTo>
                    <a:pt x="599272" y="4204760"/>
                    <a:pt x="697390" y="4083146"/>
                    <a:pt x="699276" y="3864239"/>
                  </a:cubicBezTo>
                  <a:lnTo>
                    <a:pt x="699276" y="0"/>
                  </a:lnTo>
                  <a:lnTo>
                    <a:pt x="0" y="0"/>
                  </a:lnTo>
                  <a:lnTo>
                    <a:pt x="0" y="3861371"/>
                  </a:lnTo>
                  <a:cubicBezTo>
                    <a:pt x="1887" y="4083864"/>
                    <a:pt x="98495" y="4205480"/>
                    <a:pt x="233218" y="4250455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699276" cy="4199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927008"/>
            <a:ext cx="6720866" cy="2033389"/>
            <a:chOff x="0" y="0"/>
            <a:chExt cx="1354105" cy="4096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54105" cy="409683"/>
            </a:xfrm>
            <a:custGeom>
              <a:avLst/>
              <a:gdLst/>
              <a:ahLst/>
              <a:cxnLst/>
              <a:rect l="l" t="t" r="r" b="b"/>
              <a:pathLst>
                <a:path w="1354105" h="409683">
                  <a:moveTo>
                    <a:pt x="0" y="0"/>
                  </a:moveTo>
                  <a:lnTo>
                    <a:pt x="1354105" y="0"/>
                  </a:lnTo>
                  <a:lnTo>
                    <a:pt x="1354105" y="409683"/>
                  </a:lnTo>
                  <a:lnTo>
                    <a:pt x="0" y="409683"/>
                  </a:ln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354105" cy="466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2477656" y="5581587"/>
            <a:ext cx="567591" cy="3465504"/>
            <a:chOff x="0" y="0"/>
            <a:chExt cx="699276" cy="42695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276" cy="4269524"/>
            </a:xfrm>
            <a:custGeom>
              <a:avLst/>
              <a:gdLst/>
              <a:ahLst/>
              <a:cxnLst/>
              <a:rect l="l" t="t" r="r" b="b"/>
              <a:pathLst>
                <a:path w="699276" h="4269524">
                  <a:moveTo>
                    <a:pt x="233218" y="4250455"/>
                  </a:moveTo>
                  <a:cubicBezTo>
                    <a:pt x="269068" y="4261969"/>
                    <a:pt x="309825" y="4269524"/>
                    <a:pt x="349826" y="4269524"/>
                  </a:cubicBezTo>
                  <a:cubicBezTo>
                    <a:pt x="389829" y="4269524"/>
                    <a:pt x="428322" y="4263048"/>
                    <a:pt x="463794" y="4251534"/>
                  </a:cubicBezTo>
                  <a:cubicBezTo>
                    <a:pt x="464549" y="4251174"/>
                    <a:pt x="465304" y="4251174"/>
                    <a:pt x="466058" y="4250815"/>
                  </a:cubicBezTo>
                  <a:cubicBezTo>
                    <a:pt x="599272" y="4204760"/>
                    <a:pt x="697390" y="4083146"/>
                    <a:pt x="699276" y="3864239"/>
                  </a:cubicBezTo>
                  <a:lnTo>
                    <a:pt x="699276" y="0"/>
                  </a:lnTo>
                  <a:lnTo>
                    <a:pt x="0" y="0"/>
                  </a:lnTo>
                  <a:lnTo>
                    <a:pt x="0" y="3861371"/>
                  </a:lnTo>
                  <a:cubicBezTo>
                    <a:pt x="1887" y="4083864"/>
                    <a:pt x="98495" y="4205480"/>
                    <a:pt x="233218" y="4250455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699276" cy="4199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8425942" y="1978188"/>
            <a:ext cx="0" cy="7280112"/>
          </a:xfrm>
          <a:prstGeom prst="line">
            <a:avLst/>
          </a:prstGeom>
          <a:ln w="38100" cap="flat">
            <a:solidFill>
              <a:srgbClr val="2A2B39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9017017" y="2900527"/>
            <a:ext cx="277551" cy="226551"/>
          </a:xfrm>
          <a:custGeom>
            <a:avLst/>
            <a:gdLst/>
            <a:ahLst/>
            <a:cxnLst/>
            <a:rect l="l" t="t" r="r" b="b"/>
            <a:pathLst>
              <a:path w="277551" h="226551">
                <a:moveTo>
                  <a:pt x="0" y="0"/>
                </a:moveTo>
                <a:lnTo>
                  <a:pt x="277551" y="0"/>
                </a:lnTo>
                <a:lnTo>
                  <a:pt x="277551" y="226551"/>
                </a:lnTo>
                <a:lnTo>
                  <a:pt x="0" y="226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017017" y="3308053"/>
            <a:ext cx="277551" cy="269982"/>
          </a:xfrm>
          <a:custGeom>
            <a:avLst/>
            <a:gdLst/>
            <a:ahLst/>
            <a:cxnLst/>
            <a:rect l="l" t="t" r="r" b="b"/>
            <a:pathLst>
              <a:path w="277551" h="269982">
                <a:moveTo>
                  <a:pt x="0" y="0"/>
                </a:moveTo>
                <a:lnTo>
                  <a:pt x="277551" y="0"/>
                </a:lnTo>
                <a:lnTo>
                  <a:pt x="277551" y="269982"/>
                </a:lnTo>
                <a:lnTo>
                  <a:pt x="0" y="269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1729528"/>
            <a:ext cx="620410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differentiating factors across the thr</a:t>
            </a:r>
            <a:r>
              <a:rPr lang="en-US" sz="2199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 systems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80490" y="354859"/>
            <a:ext cx="14834467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Comparative Analysis — Action Space &amp; Dataset Scale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7020" y="3099944"/>
            <a:ext cx="630656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tion: Point clicks only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{Target, ±1, (x,y) ∈ [0,1]²} + Termination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5582" y="2413886"/>
            <a:ext cx="27334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7020" y="3712084"/>
            <a:ext cx="630656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ta: 456K SFT + 888K RL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BioMedParseData: 3.4M images, 9 modalities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7020" y="5374862"/>
            <a:ext cx="630656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tion: add_bbox + add_point (±1) + stop_action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Box-to-Point &amp; Sequential-Click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5582" y="4684730"/>
            <a:ext cx="27334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MedSAM-Agent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7020" y="5987002"/>
            <a:ext cx="630656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ta: 449K SFT + 9K RL (curated)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open-source datasets, 6 modalities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7020" y="7763514"/>
            <a:ext cx="630656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tion: Structured JSON tool calls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{tool_name, arguments} from 15 medical tools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5582" y="7078119"/>
            <a:ext cx="27334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MedVistaGym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7020" y="8375654"/>
            <a:ext cx="630656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ta: ~10.5K SFT QA pairs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PathVQA · SLAKE · VQA-RAD + OOD benchmarks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17017" y="1729528"/>
            <a:ext cx="620410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Strengths &amp; Trad</a:t>
            </a:r>
            <a:r>
              <a:rPr lang="en-US" sz="2199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e-offs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63795" y="2304847"/>
            <a:ext cx="27334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IBISAgent</a:t>
            </a: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00234" y="2857838"/>
            <a:ext cx="814951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ine-grained spatial reasoning preserved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00234" y="3279849"/>
            <a:ext cx="814951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every mask from empty — potentially inefficient for large structures</a:t>
            </a:r>
          </a:p>
        </p:txBody>
      </p:sp>
      <p:sp>
        <p:nvSpPr>
          <p:cNvPr id="38" name="Freeform 38"/>
          <p:cNvSpPr/>
          <p:nvPr/>
        </p:nvSpPr>
        <p:spPr>
          <a:xfrm>
            <a:off x="9017017" y="5204391"/>
            <a:ext cx="277551" cy="226551"/>
          </a:xfrm>
          <a:custGeom>
            <a:avLst/>
            <a:gdLst/>
            <a:ahLst/>
            <a:cxnLst/>
            <a:rect l="l" t="t" r="r" b="b"/>
            <a:pathLst>
              <a:path w="277551" h="226551">
                <a:moveTo>
                  <a:pt x="0" y="0"/>
                </a:moveTo>
                <a:lnTo>
                  <a:pt x="277551" y="0"/>
                </a:lnTo>
                <a:lnTo>
                  <a:pt x="277551" y="226551"/>
                </a:lnTo>
                <a:lnTo>
                  <a:pt x="0" y="226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9017017" y="5611917"/>
            <a:ext cx="277551" cy="269982"/>
          </a:xfrm>
          <a:custGeom>
            <a:avLst/>
            <a:gdLst/>
            <a:ahLst/>
            <a:cxnLst/>
            <a:rect l="l" t="t" r="r" b="b"/>
            <a:pathLst>
              <a:path w="277551" h="269982">
                <a:moveTo>
                  <a:pt x="0" y="0"/>
                </a:moveTo>
                <a:lnTo>
                  <a:pt x="277551" y="0"/>
                </a:lnTo>
                <a:lnTo>
                  <a:pt x="277551" y="269982"/>
                </a:lnTo>
                <a:lnTo>
                  <a:pt x="0" y="269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8863795" y="4608711"/>
            <a:ext cx="27334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MedSAM</a:t>
            </a:r>
            <a:r>
              <a:rPr lang="en-US" sz="2400" b="1" dirty="0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-Agent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00234" y="5161702"/>
            <a:ext cx="814951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Box 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 reduces avg turns 2.94 → 2.06; IoU 0.623 → 0.649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00234" y="5583713"/>
            <a:ext cx="814951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complex action space requires careful trajectory curation</a:t>
            </a:r>
          </a:p>
        </p:txBody>
      </p:sp>
      <p:sp>
        <p:nvSpPr>
          <p:cNvPr id="43" name="Freeform 43"/>
          <p:cNvSpPr/>
          <p:nvPr/>
        </p:nvSpPr>
        <p:spPr>
          <a:xfrm>
            <a:off x="9017017" y="7723436"/>
            <a:ext cx="277551" cy="226551"/>
          </a:xfrm>
          <a:custGeom>
            <a:avLst/>
            <a:gdLst/>
            <a:ahLst/>
            <a:cxnLst/>
            <a:rect l="l" t="t" r="r" b="b"/>
            <a:pathLst>
              <a:path w="277551" h="226551">
                <a:moveTo>
                  <a:pt x="0" y="0"/>
                </a:moveTo>
                <a:lnTo>
                  <a:pt x="277551" y="0"/>
                </a:lnTo>
                <a:lnTo>
                  <a:pt x="277551" y="226551"/>
                </a:lnTo>
                <a:lnTo>
                  <a:pt x="0" y="226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017017" y="8130962"/>
            <a:ext cx="277551" cy="269982"/>
          </a:xfrm>
          <a:custGeom>
            <a:avLst/>
            <a:gdLst/>
            <a:ahLst/>
            <a:cxnLst/>
            <a:rect l="l" t="t" r="r" b="b"/>
            <a:pathLst>
              <a:path w="277551" h="269982">
                <a:moveTo>
                  <a:pt x="0" y="0"/>
                </a:moveTo>
                <a:lnTo>
                  <a:pt x="277551" y="0"/>
                </a:lnTo>
                <a:lnTo>
                  <a:pt x="277551" y="269982"/>
                </a:lnTo>
                <a:lnTo>
                  <a:pt x="0" y="269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8863795" y="7127756"/>
            <a:ext cx="27334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41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MedVistaGym</a:t>
            </a:r>
            <a:endParaRPr lang="en-US" sz="2400" b="1" dirty="0">
              <a:solidFill>
                <a:srgbClr val="041F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00234" y="7680747"/>
            <a:ext cx="814951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exible multi-modal reasoning; handles knowledge retrieval beyond vision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00234" y="8102758"/>
            <a:ext cx="814951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Smallest tra</a:t>
            </a:r>
            <a:r>
              <a:rPr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ining corpus; complex deployment (15 live tool services)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387240" y="9833778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20104" y="9833778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32934" y="9833778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40" grpId="0"/>
      <p:bldP spid="41" grpId="0"/>
      <p:bldP spid="42" grpId="0"/>
      <p:bldP spid="45" grpId="0"/>
      <p:bldP spid="46" grpId="0"/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33538" y="339568"/>
            <a:ext cx="1385596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Comparative Analysis — Reward Function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510125"/>
            <a:ext cx="646405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outcome-only to rich process-level supervision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03180"/>
            <a:ext cx="646405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Reward Components Across Systems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947322"/>
              </p:ext>
            </p:extLst>
          </p:nvPr>
        </p:nvGraphicFramePr>
        <p:xfrm>
          <a:off x="1029510" y="2497529"/>
          <a:ext cx="16229789" cy="5824865"/>
        </p:xfrm>
        <a:graphic>
          <a:graphicData uri="http://schemas.openxmlformats.org/drawingml/2006/table">
            <a:tbl>
              <a:tblPr/>
              <a:tblGrid>
                <a:gridCol w="67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50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MedVistaGym</a:t>
                      </a:r>
                      <a:endParaRPr lang="en-US" sz="24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IBISAgent</a:t>
                      </a:r>
                      <a:endParaRPr lang="en-US" sz="24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MedSAM</a:t>
                      </a:r>
                      <a:r>
                        <a:rPr lang="en-US" sz="24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-Agent</a:t>
                      </a:r>
                      <a:endParaRPr lang="en-US" sz="24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9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Format / Structure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Rformat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(token order) </a:t>
                      </a: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Sformat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(token order)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Rfmt (tool + stop)</a:t>
                      </a:r>
                      <a:endParaRPr lang="en-US" sz="110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Answer Quality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Racc (binary match) 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Sans (piecewise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Rqual (IoU + Dice)</a:t>
                      </a:r>
                      <a:endParaRPr lang="en-US" sz="110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Spatial Click Validity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Sclick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(FN/FP regions)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5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Per-Step Improvement</a:t>
                      </a: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Spseg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ΔIoU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&gt; 0)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Rimp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(cumulative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ΔIoU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44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Stopping / Efficiency</a:t>
                      </a: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Slen (length penalty)</a:t>
                      </a:r>
                      <a:endParaRPr lang="en-US" sz="110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Rover (overshoot) + </a:t>
                      </a:r>
                    </a:p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Rcost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(tool cost)</a:t>
                      </a: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44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 Use Alignment</a:t>
                      </a: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Rtool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(conditional: </a:t>
                      </a:r>
                    </a:p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 + correct) </a:t>
                      </a:r>
                      <a:endParaRPr lang="en-US" sz="20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2400" dirty="0"/>
                    </a:p>
                  </a:txBody>
                  <a:tcPr marL="104775" marR="104775" marT="104775" marB="104775" anchor="ctr">
                    <a:lnL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893815" y="2619694"/>
            <a:ext cx="241632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5468600" y="7886700"/>
            <a:ext cx="5125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AutoShape 11"/>
          <p:cNvSpPr/>
          <p:nvPr/>
        </p:nvSpPr>
        <p:spPr>
          <a:xfrm flipV="1">
            <a:off x="15468600" y="5146343"/>
            <a:ext cx="5125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9144000" y="5143500"/>
            <a:ext cx="5125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AutoShape 13"/>
          <p:cNvSpPr/>
          <p:nvPr/>
        </p:nvSpPr>
        <p:spPr>
          <a:xfrm flipV="1">
            <a:off x="9144000" y="6667500"/>
            <a:ext cx="5125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12496800" y="7857699"/>
            <a:ext cx="5125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17473906" y="9800148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6770" y="9800148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19600" y="9800148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AE2015B5-267E-EA38-F79B-B74E6550CCAB}"/>
              </a:ext>
            </a:extLst>
          </p:cNvPr>
          <p:cNvSpPr/>
          <p:nvPr/>
        </p:nvSpPr>
        <p:spPr>
          <a:xfrm flipV="1">
            <a:off x="9144000" y="5905500"/>
            <a:ext cx="5125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10" grpId="0" animBg="1"/>
      <p:bldP spid="12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548" y="176733"/>
            <a:ext cx="17489343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Synthesis - Convergent Design Principles Approaches Compared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67561"/>
            <a:ext cx="811530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Three Independently Confirmed Principles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2524476"/>
            <a:ext cx="740162" cy="740162"/>
            <a:chOff x="0" y="0"/>
            <a:chExt cx="194940" cy="194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1938" y="2658318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3653" y="2519272"/>
            <a:ext cx="81153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Two-Stage Training: SFT Cold-Start → RL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3653" y="3005558"/>
            <a:ext cx="1505564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three systems confirm that SFT alone is insufficient and RL alone struggles with cold start. SFT establishes syntactic/semantic priors; RL optimizes long-horizon outcomes. Combined SFT+RL consistently outperforms either stage alone by substantial margins across all ablations.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203653" y="3605632"/>
            <a:ext cx="10222518" cy="471942"/>
            <a:chOff x="0" y="0"/>
            <a:chExt cx="2692350" cy="1242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92350" cy="124298"/>
            </a:xfrm>
            <a:custGeom>
              <a:avLst/>
              <a:gdLst/>
              <a:ahLst/>
              <a:cxnLst/>
              <a:rect l="l" t="t" r="r" b="b"/>
              <a:pathLst>
                <a:path w="2692350" h="124298">
                  <a:moveTo>
                    <a:pt x="4544" y="0"/>
                  </a:moveTo>
                  <a:lnTo>
                    <a:pt x="2687806" y="0"/>
                  </a:lnTo>
                  <a:cubicBezTo>
                    <a:pt x="2689011" y="0"/>
                    <a:pt x="2690167" y="479"/>
                    <a:pt x="2691019" y="1331"/>
                  </a:cubicBezTo>
                  <a:cubicBezTo>
                    <a:pt x="2691872" y="2183"/>
                    <a:pt x="2692350" y="3339"/>
                    <a:pt x="2692350" y="4544"/>
                  </a:cubicBezTo>
                  <a:lnTo>
                    <a:pt x="2692350" y="119753"/>
                  </a:lnTo>
                  <a:cubicBezTo>
                    <a:pt x="2692350" y="120959"/>
                    <a:pt x="2691872" y="122114"/>
                    <a:pt x="2691019" y="122967"/>
                  </a:cubicBezTo>
                  <a:cubicBezTo>
                    <a:pt x="2690167" y="123819"/>
                    <a:pt x="2689011" y="124298"/>
                    <a:pt x="2687806" y="124298"/>
                  </a:cubicBezTo>
                  <a:lnTo>
                    <a:pt x="4544" y="124298"/>
                  </a:lnTo>
                  <a:cubicBezTo>
                    <a:pt x="2034" y="124298"/>
                    <a:pt x="0" y="122263"/>
                    <a:pt x="0" y="119753"/>
                  </a:cubicBezTo>
                  <a:lnTo>
                    <a:pt x="0" y="4544"/>
                  </a:lnTo>
                  <a:cubicBezTo>
                    <a:pt x="0" y="3339"/>
                    <a:pt x="479" y="2183"/>
                    <a:pt x="1331" y="1331"/>
                  </a:cubicBezTo>
                  <a:cubicBezTo>
                    <a:pt x="2183" y="479"/>
                    <a:pt x="3339" y="0"/>
                    <a:pt x="4544" y="0"/>
                  </a:cubicBezTo>
                  <a:close/>
                </a:path>
              </a:pathLst>
            </a:custGeom>
            <a:ln w="9525" cap="sq">
              <a:solidFill>
                <a:srgbClr val="0073C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692350" cy="181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318493" y="3688351"/>
            <a:ext cx="999283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Evidence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 dirty="0" err="1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IBISAgent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+~15% </a:t>
            </a:r>
            <a:r>
              <a:rPr lang="en-US" sz="1800" dirty="0" err="1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IoU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</a:t>
            </a:r>
            <a:r>
              <a:rPr lang="en-US" sz="1800" dirty="0" err="1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MedSAM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-Agent: 0.686 → 0.705 · </a:t>
            </a:r>
            <a:r>
              <a:rPr lang="en-US" sz="1800" dirty="0" err="1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MedVistaGym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+8.72% via RL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4734800"/>
            <a:ext cx="740162" cy="740162"/>
            <a:chOff x="0" y="0"/>
            <a:chExt cx="194940" cy="1949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71938" y="4868642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03653" y="4729596"/>
            <a:ext cx="81153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Observation as Re-encoded Pixel Input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03653" y="5215882"/>
            <a:ext cx="15055647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three systems treat the current segmentation state as a visual object rather than a symbolic summary. IBISAgent and MedSAM-Agent overlay masks on the original image, re-encoding through the vision encoder at each step. MedVistaGym passes processed images (zoomed regions, segmentation masks) as multimodal evidence.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203653" y="6082656"/>
            <a:ext cx="10222518" cy="455462"/>
            <a:chOff x="0" y="0"/>
            <a:chExt cx="2692350" cy="1199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92350" cy="119957"/>
            </a:xfrm>
            <a:custGeom>
              <a:avLst/>
              <a:gdLst/>
              <a:ahLst/>
              <a:cxnLst/>
              <a:rect l="l" t="t" r="r" b="b"/>
              <a:pathLst>
                <a:path w="2692350" h="119957">
                  <a:moveTo>
                    <a:pt x="4544" y="0"/>
                  </a:moveTo>
                  <a:lnTo>
                    <a:pt x="2687806" y="0"/>
                  </a:lnTo>
                  <a:cubicBezTo>
                    <a:pt x="2689011" y="0"/>
                    <a:pt x="2690167" y="479"/>
                    <a:pt x="2691019" y="1331"/>
                  </a:cubicBezTo>
                  <a:cubicBezTo>
                    <a:pt x="2691872" y="2183"/>
                    <a:pt x="2692350" y="3339"/>
                    <a:pt x="2692350" y="4544"/>
                  </a:cubicBezTo>
                  <a:lnTo>
                    <a:pt x="2692350" y="115413"/>
                  </a:lnTo>
                  <a:cubicBezTo>
                    <a:pt x="2692350" y="116618"/>
                    <a:pt x="2691872" y="117774"/>
                    <a:pt x="2691019" y="118626"/>
                  </a:cubicBezTo>
                  <a:cubicBezTo>
                    <a:pt x="2690167" y="119478"/>
                    <a:pt x="2689011" y="119957"/>
                    <a:pt x="2687806" y="119957"/>
                  </a:cubicBezTo>
                  <a:lnTo>
                    <a:pt x="4544" y="119957"/>
                  </a:lnTo>
                  <a:cubicBezTo>
                    <a:pt x="2034" y="119957"/>
                    <a:pt x="0" y="117923"/>
                    <a:pt x="0" y="115413"/>
                  </a:cubicBezTo>
                  <a:lnTo>
                    <a:pt x="0" y="4544"/>
                  </a:lnTo>
                  <a:cubicBezTo>
                    <a:pt x="0" y="3339"/>
                    <a:pt x="479" y="2183"/>
                    <a:pt x="1331" y="1331"/>
                  </a:cubicBezTo>
                  <a:cubicBezTo>
                    <a:pt x="2183" y="479"/>
                    <a:pt x="3339" y="0"/>
                    <a:pt x="4544" y="0"/>
                  </a:cubicBezTo>
                  <a:close/>
                </a:path>
              </a:pathLst>
            </a:custGeom>
            <a:ln w="9525" cap="sq">
              <a:solidFill>
                <a:srgbClr val="0073C8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692350" cy="17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318493" y="6171784"/>
            <a:ext cx="999283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Evidence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Enables pixel-level reasoning to directly condition on evolving segmentation boundaries   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28700" y="7087998"/>
            <a:ext cx="740162" cy="740162"/>
            <a:chOff x="0" y="0"/>
            <a:chExt cx="194940" cy="1949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71938" y="7221840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03653" y="7082794"/>
            <a:ext cx="81153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 Access Without Policy Training is Insufficient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03653" y="7569080"/>
            <a:ext cx="15055647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Critically, all three papers demonstrate that simply giving VLMs tool access degrades or fails to improve performance. IBISAgent: tools without RL = ~37% IoU. MedVistaGym: InternVL3+tools = 38.88% vs InternVL3 alone = 54.66%. MedSAM-Agent: direct RL without SFT fails in complex modalities. 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203653" y="8395850"/>
            <a:ext cx="10222518" cy="565299"/>
            <a:chOff x="0" y="0"/>
            <a:chExt cx="2247720" cy="1242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47720" cy="124298"/>
            </a:xfrm>
            <a:custGeom>
              <a:avLst/>
              <a:gdLst/>
              <a:ahLst/>
              <a:cxnLst/>
              <a:rect l="l" t="t" r="r" b="b"/>
              <a:pathLst>
                <a:path w="2247720" h="124298">
                  <a:moveTo>
                    <a:pt x="4544" y="0"/>
                  </a:moveTo>
                  <a:lnTo>
                    <a:pt x="2243176" y="0"/>
                  </a:lnTo>
                  <a:cubicBezTo>
                    <a:pt x="2245686" y="0"/>
                    <a:pt x="2247720" y="2034"/>
                    <a:pt x="2247720" y="4544"/>
                  </a:cubicBezTo>
                  <a:lnTo>
                    <a:pt x="2247720" y="119753"/>
                  </a:lnTo>
                  <a:cubicBezTo>
                    <a:pt x="2247720" y="120959"/>
                    <a:pt x="2247241" y="122114"/>
                    <a:pt x="2246389" y="122967"/>
                  </a:cubicBezTo>
                  <a:cubicBezTo>
                    <a:pt x="2245537" y="123819"/>
                    <a:pt x="2244381" y="124298"/>
                    <a:pt x="2243176" y="124298"/>
                  </a:cubicBezTo>
                  <a:lnTo>
                    <a:pt x="4544" y="124298"/>
                  </a:lnTo>
                  <a:cubicBezTo>
                    <a:pt x="2034" y="124298"/>
                    <a:pt x="0" y="122263"/>
                    <a:pt x="0" y="119753"/>
                  </a:cubicBezTo>
                  <a:lnTo>
                    <a:pt x="0" y="4544"/>
                  </a:lnTo>
                  <a:cubicBezTo>
                    <a:pt x="0" y="3339"/>
                    <a:pt x="479" y="2183"/>
                    <a:pt x="1331" y="1331"/>
                  </a:cubicBezTo>
                  <a:cubicBezTo>
                    <a:pt x="2183" y="479"/>
                    <a:pt x="3339" y="0"/>
                    <a:pt x="4544" y="0"/>
                  </a:cubicBezTo>
                  <a:close/>
                </a:path>
              </a:pathLst>
            </a:custGeom>
            <a:ln w="9525" cap="sq">
              <a:solidFill>
                <a:srgbClr val="0073C8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2247720" cy="181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18493" y="8545029"/>
            <a:ext cx="972062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73C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Evidence</a:t>
            </a:r>
            <a:r>
              <a:rPr lang="en-US" sz="1800" dirty="0">
                <a:solidFill>
                  <a:srgbClr val="0073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Policy training (not tool access) is what unlocks effective tool-integrated reasoning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45306" y="9815699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8170" y="9815699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91000" y="9815699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9" grpId="0"/>
      <p:bldP spid="10" grpId="0"/>
      <p:bldP spid="14" grpId="0"/>
      <p:bldP spid="18" grpId="0"/>
      <p:bldP spid="19" grpId="0"/>
      <p:bldP spid="20" grpId="0"/>
      <p:bldP spid="24" grpId="0"/>
      <p:bldP spid="28" grpId="0"/>
      <p:bldP spid="29" grpId="0"/>
      <p:bldP spid="30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5750" y="2184626"/>
            <a:ext cx="740162" cy="740162"/>
            <a:chOff x="0" y="0"/>
            <a:chExt cx="194940" cy="1949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5750" y="4115661"/>
            <a:ext cx="740162" cy="740162"/>
            <a:chOff x="0" y="0"/>
            <a:chExt cx="194940" cy="194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5750" y="6046696"/>
            <a:ext cx="740162" cy="740162"/>
            <a:chOff x="0" y="0"/>
            <a:chExt cx="194940" cy="1949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50" y="7977731"/>
            <a:ext cx="740162" cy="740162"/>
            <a:chOff x="0" y="0"/>
            <a:chExt cx="194940" cy="1949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636643" y="1632475"/>
            <a:ext cx="385029" cy="385029"/>
          </a:xfrm>
          <a:custGeom>
            <a:avLst/>
            <a:gdLst/>
            <a:ahLst/>
            <a:cxnLst/>
            <a:rect l="l" t="t" r="r" b="b"/>
            <a:pathLst>
              <a:path w="385029" h="385029">
                <a:moveTo>
                  <a:pt x="0" y="0"/>
                </a:moveTo>
                <a:lnTo>
                  <a:pt x="385029" y="0"/>
                </a:lnTo>
                <a:lnTo>
                  <a:pt x="385029" y="385029"/>
                </a:lnTo>
                <a:lnTo>
                  <a:pt x="0" y="385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15750" y="1580821"/>
            <a:ext cx="421443" cy="421443"/>
          </a:xfrm>
          <a:custGeom>
            <a:avLst/>
            <a:gdLst/>
            <a:ahLst/>
            <a:cxnLst/>
            <a:rect l="l" t="t" r="r" b="b"/>
            <a:pathLst>
              <a:path w="421443" h="421443">
                <a:moveTo>
                  <a:pt x="0" y="0"/>
                </a:moveTo>
                <a:lnTo>
                  <a:pt x="421443" y="0"/>
                </a:lnTo>
                <a:lnTo>
                  <a:pt x="421443" y="421443"/>
                </a:lnTo>
                <a:lnTo>
                  <a:pt x="0" y="421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179582" y="189546"/>
            <a:ext cx="12914123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 b="1" dirty="0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Open Challenges &amp; Future Research Directions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4551" y="1435843"/>
            <a:ext cx="5225216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Critical Open Problems  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08920" y="2663703"/>
            <a:ext cx="509905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79"/>
              </a:lnSpc>
            </a:pPr>
            <a:r>
              <a:rPr lang="en-US" dirty="0"/>
              <a:t>All three work only on 2D slices. Real clinical CT and MRI is 3D — a harder problem none of these systems can handle yet.</a:t>
            </a:r>
            <a:endParaRPr lang="en-US" sz="1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008920" y="2177006"/>
            <a:ext cx="355284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3D Volumetric Extension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8988" y="2283069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8988" y="4235841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8988" y="6156887"/>
            <a:ext cx="65368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8988" y="8087922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08920" y="4545208"/>
            <a:ext cx="5099056" cy="101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IBISAgent: GPT-5 reasoning synthesis on 456K samples + human review. MedVistaGym: live deployment of 15 tool services during generation. Significant engineering overhead limits reproducibility.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08920" y="4058511"/>
            <a:ext cx="509905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Construction Bottleneck 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08920" y="6476243"/>
            <a:ext cx="5099056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8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case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MedVistaGym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tools worked perfectly, fracture located correctly — yet the agent named the wrong fracture type. RL can't fix bad medical knowledge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008920" y="5989546"/>
            <a:ext cx="40104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Knowledge Gap Failure Mode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08920" y="8407278"/>
            <a:ext cx="5430387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8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these systems has been tested on real patients.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IBISAgent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28.7 seconds per image — too slow for emergencies.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Adaptive stopping + early-exit mechanisms are essential for high-throughput clinical use. 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08920" y="7920581"/>
            <a:ext cx="476772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Clinical Deployment &amp; Latency 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636643" y="2234156"/>
            <a:ext cx="740162" cy="740162"/>
            <a:chOff x="0" y="0"/>
            <a:chExt cx="194940" cy="1949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36643" y="3758573"/>
            <a:ext cx="740162" cy="740162"/>
            <a:chOff x="0" y="0"/>
            <a:chExt cx="194940" cy="1949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36643" y="5231335"/>
            <a:ext cx="740162" cy="740162"/>
            <a:chOff x="0" y="0"/>
            <a:chExt cx="194940" cy="1949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36643" y="6786858"/>
            <a:ext cx="740162" cy="740162"/>
            <a:chOff x="0" y="0"/>
            <a:chExt cx="194940" cy="1949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289528" y="1465470"/>
            <a:ext cx="488030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Research Direction 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29814" y="2713233"/>
            <a:ext cx="6629486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IBISAgent's spatial click precision with MedVistaGym's 15-tool library — neither system currently realizes this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629814" y="2226536"/>
            <a:ext cx="355284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Unified Action Space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79881" y="2332599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79881" y="3878753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79881" y="5341526"/>
            <a:ext cx="65368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79881" y="6897049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629814" y="4188119"/>
            <a:ext cx="6534821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MedSAM-Agent's overshoot penalty + IBISAgent's click placement reward + conditional tool-use — for denser training signal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629814" y="3701423"/>
            <a:ext cx="355284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Richer Process Rewards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29814" y="5660882"/>
            <a:ext cx="6629486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IBISAgent, MedVistaGym and MedSAM-Agent use different metrics and benchmarks — a common evaluation suite is urgently needed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29814" y="5174185"/>
            <a:ext cx="355284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Standardized Evaluation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629814" y="7216404"/>
            <a:ext cx="6629486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Supplement tool augmentation with structured diagnostic knowledge bases to close the knowledge-gap failure mode 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629814" y="6729708"/>
            <a:ext cx="419973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Medical Knowledge Integration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636643" y="8145072"/>
            <a:ext cx="740162" cy="740162"/>
            <a:chOff x="0" y="0"/>
            <a:chExt cx="194940" cy="1949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94940" cy="194940"/>
            </a:xfrm>
            <a:custGeom>
              <a:avLst/>
              <a:gdLst/>
              <a:ahLst/>
              <a:cxnLst/>
              <a:rect l="l" t="t" r="r" b="b"/>
              <a:pathLst>
                <a:path w="194940" h="194940">
                  <a:moveTo>
                    <a:pt x="97470" y="0"/>
                  </a:moveTo>
                  <a:lnTo>
                    <a:pt x="97470" y="0"/>
                  </a:lnTo>
                  <a:cubicBezTo>
                    <a:pt x="123320" y="0"/>
                    <a:pt x="148112" y="10269"/>
                    <a:pt x="166391" y="28548"/>
                  </a:cubicBezTo>
                  <a:cubicBezTo>
                    <a:pt x="184671" y="46827"/>
                    <a:pt x="194940" y="71619"/>
                    <a:pt x="194940" y="97470"/>
                  </a:cubicBezTo>
                  <a:lnTo>
                    <a:pt x="194940" y="97470"/>
                  </a:lnTo>
                  <a:cubicBezTo>
                    <a:pt x="194940" y="123320"/>
                    <a:pt x="184671" y="148112"/>
                    <a:pt x="166391" y="166391"/>
                  </a:cubicBezTo>
                  <a:cubicBezTo>
                    <a:pt x="148112" y="184671"/>
                    <a:pt x="123320" y="194940"/>
                    <a:pt x="97470" y="194940"/>
                  </a:cubicBezTo>
                  <a:lnTo>
                    <a:pt x="97470" y="194940"/>
                  </a:lnTo>
                  <a:cubicBezTo>
                    <a:pt x="71619" y="194940"/>
                    <a:pt x="46827" y="184671"/>
                    <a:pt x="28548" y="166391"/>
                  </a:cubicBezTo>
                  <a:cubicBezTo>
                    <a:pt x="10269" y="148112"/>
                    <a:pt x="0" y="123320"/>
                    <a:pt x="0" y="97470"/>
                  </a:cubicBezTo>
                  <a:lnTo>
                    <a:pt x="0" y="97470"/>
                  </a:lnTo>
                  <a:cubicBezTo>
                    <a:pt x="0" y="71619"/>
                    <a:pt x="10269" y="46827"/>
                    <a:pt x="28548" y="28548"/>
                  </a:cubicBezTo>
                  <a:cubicBezTo>
                    <a:pt x="46827" y="10269"/>
                    <a:pt x="71619" y="0"/>
                    <a:pt x="9747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194940" cy="25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679881" y="8255263"/>
            <a:ext cx="653685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1F3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629814" y="8574619"/>
            <a:ext cx="6629486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Speculative decoding, KV-cache optimization, early-exit mechanisms for near-real-time clinical deployment</a:t>
            </a:r>
          </a:p>
          <a:p>
            <a:pPr algn="l">
              <a:lnSpc>
                <a:spcPts val="198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0629814" y="8087922"/>
            <a:ext cx="419973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Efficient Multi-turn Inference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7321506" y="9771894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54370" y="9771894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267200" y="9771894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8" grpId="0"/>
      <p:bldP spid="59" grpId="0"/>
      <p:bldP spid="6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35899" y="1636004"/>
            <a:ext cx="819621" cy="81962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64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43024" y="392217"/>
            <a:ext cx="3201952" cy="77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04255" y="1687910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Reformulating segmentation as iterative MDP yields consistent, substantial improvements across all benchmarks and imaging modalities.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35899" y="3034837"/>
            <a:ext cx="819621" cy="8196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64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04255" y="3086743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Two-stage SFT + RL is a convergent, principled solution — not an implementation detail — confirmed independently by all three teams. 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35899" y="4429532"/>
            <a:ext cx="819621" cy="81962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64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04255" y="4481438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 access alone is harmful without policy training. RL is the essential ingredient that transforms tool availability into tool effectiveness.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135899" y="5824228"/>
            <a:ext cx="819621" cy="8196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64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304255" y="5876134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Richer process rewards (click validity, monotonic improvement, overshoot penalty) outperform outcome-only rewards at every ablation point.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21506" y="9747499"/>
            <a:ext cx="69220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4370" y="9747499"/>
            <a:ext cx="35640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67200" y="9747499"/>
            <a:ext cx="1013460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5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0797" y="2679922"/>
            <a:ext cx="8115300" cy="412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4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31465" y="9840133"/>
            <a:ext cx="69220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4329" y="9840133"/>
            <a:ext cx="35640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20/04/2026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77159" y="9840133"/>
            <a:ext cx="101346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00199" y="376439"/>
            <a:ext cx="3201952" cy="77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9286" y="2041696"/>
            <a:ext cx="65368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58883" y="2108371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arxiv.org/pdf/2602.03320"/>
              </a:rPr>
              <a:t>MedSAM-Agent: Empowering Interactive Medical Image Segmentation with Multi-turn Agentic Reinforcement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9286" y="2942761"/>
            <a:ext cx="65368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58883" y="3009436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arxiv.org/pdf/2601.03054"/>
              </a:rPr>
              <a:t>IBISAgent: Reinforcing Pixel-Level Visual Reasoning in MLLMs for Universal Biomedical Object Referring and Segmentation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9286" y="3840016"/>
            <a:ext cx="65368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8883" y="3906691"/>
            <a:ext cx="1317023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arxiv.org/pdf/2601.07107"/>
              </a:rPr>
              <a:t>MEDVISTAGYM: A Scalable Training Environment for Thinking with Medical Images via Tool-Integrated Reinforcement Learning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31465" y="9732670"/>
            <a:ext cx="692205" cy="3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pc="33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4329" y="9732670"/>
            <a:ext cx="3564096" cy="3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pc="3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20/04/2026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7159" y="9732670"/>
            <a:ext cx="10134600" cy="3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3230 – Technical Writing &amp; Seminar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8950" y="2736759"/>
            <a:ext cx="5146103" cy="396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291B26"/>
                </a:solidFill>
                <a:latin typeface="Scripter"/>
                <a:ea typeface="Scripter"/>
                <a:cs typeface="Scripter"/>
                <a:sym typeface="Scripter"/>
              </a:rPr>
              <a:t>QUESTIONS</a:t>
            </a:r>
          </a:p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291B26"/>
                </a:solidFill>
                <a:latin typeface="Scripter"/>
                <a:ea typeface="Scripter"/>
                <a:cs typeface="Scripter"/>
                <a:sym typeface="Scripter"/>
              </a:rPr>
              <a:t>AND</a:t>
            </a:r>
          </a:p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291B26"/>
                </a:solidFill>
                <a:latin typeface="Scripter"/>
                <a:ea typeface="Scripter"/>
                <a:cs typeface="Scripter"/>
                <a:sym typeface="Scripter"/>
              </a:rPr>
              <a:t>ANSWERS</a:t>
            </a:r>
          </a:p>
        </p:txBody>
      </p:sp>
      <p:sp>
        <p:nvSpPr>
          <p:cNvPr id="3" name="Freeform 3"/>
          <p:cNvSpPr/>
          <p:nvPr/>
        </p:nvSpPr>
        <p:spPr>
          <a:xfrm>
            <a:off x="5616772" y="1779374"/>
            <a:ext cx="1268175" cy="1155192"/>
          </a:xfrm>
          <a:custGeom>
            <a:avLst/>
            <a:gdLst/>
            <a:ahLst/>
            <a:cxnLst/>
            <a:rect l="l" t="t" r="r" b="b"/>
            <a:pathLst>
              <a:path w="1268175" h="1155192">
                <a:moveTo>
                  <a:pt x="0" y="0"/>
                </a:moveTo>
                <a:lnTo>
                  <a:pt x="1268175" y="0"/>
                </a:lnTo>
                <a:lnTo>
                  <a:pt x="1268175" y="1155191"/>
                </a:lnTo>
                <a:lnTo>
                  <a:pt x="0" y="1155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84947" y="6679517"/>
            <a:ext cx="4234109" cy="646664"/>
          </a:xfrm>
          <a:custGeom>
            <a:avLst/>
            <a:gdLst/>
            <a:ahLst/>
            <a:cxnLst/>
            <a:rect l="l" t="t" r="r" b="b"/>
            <a:pathLst>
              <a:path w="4234109" h="646664">
                <a:moveTo>
                  <a:pt x="0" y="0"/>
                </a:moveTo>
                <a:lnTo>
                  <a:pt x="4234109" y="0"/>
                </a:lnTo>
                <a:lnTo>
                  <a:pt x="4234109" y="646664"/>
                </a:lnTo>
                <a:lnTo>
                  <a:pt x="0" y="646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31465" y="9855910"/>
            <a:ext cx="69220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4329" y="9855910"/>
            <a:ext cx="35640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20/04/2026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77159" y="9855910"/>
            <a:ext cx="101346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667198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CSE 3230 – Technical Writing &amp; Seminar</a:t>
            </a:r>
            <a:endParaRPr lang="en-US" sz="1800" dirty="0">
              <a:solidFill>
                <a:srgbClr val="667198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2673</Words>
  <Application>Microsoft Office PowerPoint</Application>
  <PresentationFormat>Custom</PresentationFormat>
  <Paragraphs>477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Times New Roman Bold</vt:lpstr>
      <vt:lpstr>Arial</vt:lpstr>
      <vt:lpstr>Times New Roman</vt:lpstr>
      <vt:lpstr>Cambria Math</vt:lpstr>
      <vt:lpstr>Scripter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lab presentation</dc:title>
  <dc:creator>HP</dc:creator>
  <cp:lastModifiedBy>Jim Jim</cp:lastModifiedBy>
  <cp:revision>79</cp:revision>
  <dcterms:created xsi:type="dcterms:W3CDTF">2006-08-16T00:00:00Z</dcterms:created>
  <dcterms:modified xsi:type="dcterms:W3CDTF">2026-04-20T01:54:37Z</dcterms:modified>
  <dc:identifier>DAHGayvBOo0</dc:identifier>
</cp:coreProperties>
</file>